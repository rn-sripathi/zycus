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685800"/>
            <a:ext cx="10874959" cy="228600"/>
          </a:xfrm>
          <a:prstGeom prst="rect">
            <a:avLst/>
          </a:prstGeom>
          <a:noFill/>
        </p:spPr>
        <p:txBody>
          <a:bodyPr wrap="square" lIns="0" rIns="0" tIns="0" bIns="0">
            <a:spAutoFit/>
          </a:bodyPr>
          <a:lstStyle/>
          <a:p>
            <a:pPr algn="l">
              <a:lnSpc>
                <a:spcPct val="120000"/>
              </a:lnSpc>
            </a:pPr>
            <a:r>
              <a:rPr sz="1000" b="0" i="0" spc="150">
                <a:solidFill>
                  <a:srgbClr val="1F5FD6"/>
                </a:solidFill>
                <a:latin typeface="Consolas"/>
              </a:rPr>
              <a:t>TRACK B   ·   CONTRACT REDLINING</a:t>
            </a:r>
          </a:p>
        </p:txBody>
      </p:sp>
      <p:sp>
        <p:nvSpPr>
          <p:cNvPr id="4" name="TextBox 3"/>
          <p:cNvSpPr txBox="1"/>
          <p:nvPr/>
        </p:nvSpPr>
        <p:spPr>
          <a:xfrm>
            <a:off x="658368" y="960120"/>
            <a:ext cx="8778240" cy="1371600"/>
          </a:xfrm>
          <a:prstGeom prst="rect">
            <a:avLst/>
          </a:prstGeom>
          <a:noFill/>
        </p:spPr>
        <p:txBody>
          <a:bodyPr wrap="square" lIns="0" rIns="0" tIns="0" bIns="0">
            <a:spAutoFit/>
          </a:bodyPr>
          <a:lstStyle/>
          <a:p>
            <a:pPr algn="l">
              <a:lnSpc>
                <a:spcPct val="102000"/>
              </a:lnSpc>
            </a:pPr>
            <a:r>
              <a:rPr sz="3600" b="0" i="0">
                <a:solidFill>
                  <a:srgbClr val="16202E"/>
                </a:solidFill>
                <a:latin typeface="Georgia"/>
              </a:rPr>
              <a:t>Reading a vendor's contract
against your own rules</a:t>
            </a:r>
          </a:p>
        </p:txBody>
      </p:sp>
      <p:sp>
        <p:nvSpPr>
          <p:cNvPr id="5" name="TextBox 4"/>
          <p:cNvSpPr txBox="1"/>
          <p:nvPr/>
        </p:nvSpPr>
        <p:spPr>
          <a:xfrm>
            <a:off x="658368" y="2395728"/>
            <a:ext cx="9326880" cy="640080"/>
          </a:xfrm>
          <a:prstGeom prst="rect">
            <a:avLst/>
          </a:prstGeom>
          <a:noFill/>
        </p:spPr>
        <p:txBody>
          <a:bodyPr wrap="square" lIns="0" rIns="0" tIns="0" bIns="0">
            <a:spAutoFit/>
          </a:bodyPr>
          <a:lstStyle/>
          <a:p>
            <a:pPr algn="l">
              <a:lnSpc>
                <a:spcPct val="135000"/>
              </a:lnSpc>
            </a:pPr>
            <a:r>
              <a:rPr sz="1300" b="0" i="0">
                <a:solidFill>
                  <a:srgbClr val="4A5668"/>
                </a:solidFill>
                <a:latin typeface="Segoe UI"/>
              </a:rPr>
              <a:t>Northwind's draft breaches the Zycus playbook in seven places across six clauses. The agent finds every one, drafts the replacement wording, and says plainly which findings it cannot stand behind.</a:t>
            </a:r>
          </a:p>
        </p:txBody>
      </p:sp>
      <p:sp>
        <p:nvSpPr>
          <p:cNvPr id="6" name="Rectangle 5"/>
          <p:cNvSpPr/>
          <p:nvPr/>
        </p:nvSpPr>
        <p:spPr>
          <a:xfrm>
            <a:off x="658368" y="3310128"/>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58368" y="3310128"/>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3410712"/>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Liability cap</a:t>
            </a:r>
          </a:p>
        </p:txBody>
      </p:sp>
      <p:sp>
        <p:nvSpPr>
          <p:cNvPr id="9" name="TextBox 8"/>
          <p:cNvSpPr txBox="1"/>
          <p:nvPr/>
        </p:nvSpPr>
        <p:spPr>
          <a:xfrm>
            <a:off x="822959" y="3648456"/>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at least 12 months of fees</a:t>
            </a:r>
          </a:p>
        </p:txBody>
      </p:sp>
      <p:sp>
        <p:nvSpPr>
          <p:cNvPr id="10" name="Rectangle 9"/>
          <p:cNvSpPr/>
          <p:nvPr/>
        </p:nvSpPr>
        <p:spPr>
          <a:xfrm>
            <a:off x="3392424" y="3310128"/>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392424" y="3310128"/>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57016" y="3410712"/>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Termination notice</a:t>
            </a:r>
          </a:p>
        </p:txBody>
      </p:sp>
      <p:sp>
        <p:nvSpPr>
          <p:cNvPr id="13" name="TextBox 12"/>
          <p:cNvSpPr txBox="1"/>
          <p:nvPr/>
        </p:nvSpPr>
        <p:spPr>
          <a:xfrm>
            <a:off x="3557016" y="3648456"/>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at least 30 days</a:t>
            </a:r>
          </a:p>
        </p:txBody>
      </p:sp>
      <p:sp>
        <p:nvSpPr>
          <p:cNvPr id="14" name="Rectangle 13"/>
          <p:cNvSpPr/>
          <p:nvPr/>
        </p:nvSpPr>
        <p:spPr>
          <a:xfrm>
            <a:off x="6126479" y="3310128"/>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26479" y="3310128"/>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1" y="3410712"/>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Auto-renewal notice</a:t>
            </a:r>
          </a:p>
        </p:txBody>
      </p:sp>
      <p:sp>
        <p:nvSpPr>
          <p:cNvPr id="17" name="TextBox 16"/>
          <p:cNvSpPr txBox="1"/>
          <p:nvPr/>
        </p:nvSpPr>
        <p:spPr>
          <a:xfrm>
            <a:off x="6291071" y="3648456"/>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30 days, no penalty</a:t>
            </a:r>
          </a:p>
        </p:txBody>
      </p:sp>
      <p:sp>
        <p:nvSpPr>
          <p:cNvPr id="18" name="Rectangle 17"/>
          <p:cNvSpPr/>
          <p:nvPr/>
        </p:nvSpPr>
        <p:spPr>
          <a:xfrm>
            <a:off x="8860536" y="3310128"/>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60536" y="3310128"/>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25128" y="3410712"/>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Payment terms</a:t>
            </a:r>
          </a:p>
        </p:txBody>
      </p:sp>
      <p:sp>
        <p:nvSpPr>
          <p:cNvPr id="21" name="TextBox 20"/>
          <p:cNvSpPr txBox="1"/>
          <p:nvPr/>
        </p:nvSpPr>
        <p:spPr>
          <a:xfrm>
            <a:off x="9025128" y="3648456"/>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Net 30 or longer</a:t>
            </a:r>
          </a:p>
        </p:txBody>
      </p:sp>
      <p:sp>
        <p:nvSpPr>
          <p:cNvPr id="22" name="Rectangle 21"/>
          <p:cNvSpPr/>
          <p:nvPr/>
        </p:nvSpPr>
        <p:spPr>
          <a:xfrm>
            <a:off x="658368" y="4105656"/>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4105656"/>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59" y="4206240"/>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Data ownership</a:t>
            </a:r>
          </a:p>
        </p:txBody>
      </p:sp>
      <p:sp>
        <p:nvSpPr>
          <p:cNvPr id="25" name="TextBox 24"/>
          <p:cNvSpPr txBox="1"/>
          <p:nvPr/>
        </p:nvSpPr>
        <p:spPr>
          <a:xfrm>
            <a:off x="822959" y="4443984"/>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stays with Zycus</a:t>
            </a:r>
          </a:p>
        </p:txBody>
      </p:sp>
      <p:sp>
        <p:nvSpPr>
          <p:cNvPr id="26" name="Rectangle 25"/>
          <p:cNvSpPr/>
          <p:nvPr/>
        </p:nvSpPr>
        <p:spPr>
          <a:xfrm>
            <a:off x="3392424" y="4105656"/>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392424" y="4105656"/>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57016" y="4206240"/>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Indemnification</a:t>
            </a:r>
          </a:p>
        </p:txBody>
      </p:sp>
      <p:sp>
        <p:nvSpPr>
          <p:cNvPr id="29" name="TextBox 28"/>
          <p:cNvSpPr txBox="1"/>
          <p:nvPr/>
        </p:nvSpPr>
        <p:spPr>
          <a:xfrm>
            <a:off x="3557016" y="4443984"/>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mutual, not one-sided</a:t>
            </a:r>
          </a:p>
        </p:txBody>
      </p:sp>
      <p:sp>
        <p:nvSpPr>
          <p:cNvPr id="30" name="Rectangle 29"/>
          <p:cNvSpPr/>
          <p:nvPr/>
        </p:nvSpPr>
        <p:spPr>
          <a:xfrm>
            <a:off x="6126479" y="4105656"/>
            <a:ext cx="2596896" cy="658368"/>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26479" y="4105656"/>
            <a:ext cx="32004" cy="65836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91071" y="4206240"/>
            <a:ext cx="2322576" cy="201168"/>
          </a:xfrm>
          <a:prstGeom prst="rect">
            <a:avLst/>
          </a:prstGeom>
          <a:noFill/>
        </p:spPr>
        <p:txBody>
          <a:bodyPr wrap="square" lIns="0" rIns="0" tIns="0" bIns="0">
            <a:spAutoFit/>
          </a:bodyPr>
          <a:lstStyle/>
          <a:p>
            <a:pPr algn="l">
              <a:lnSpc>
                <a:spcPct val="120000"/>
              </a:lnSpc>
            </a:pPr>
            <a:r>
              <a:rPr sz="1150" b="1" i="0">
                <a:solidFill>
                  <a:srgbClr val="16202E"/>
                </a:solidFill>
                <a:latin typeface="Segoe UI"/>
              </a:rPr>
              <a:t>Governing law</a:t>
            </a:r>
          </a:p>
        </p:txBody>
      </p:sp>
      <p:sp>
        <p:nvSpPr>
          <p:cNvPr id="33" name="TextBox 32"/>
          <p:cNvSpPr txBox="1"/>
          <p:nvPr/>
        </p:nvSpPr>
        <p:spPr>
          <a:xfrm>
            <a:off x="6291071" y="4443984"/>
            <a:ext cx="2322576" cy="201168"/>
          </a:xfrm>
          <a:prstGeom prst="rect">
            <a:avLst/>
          </a:prstGeom>
          <a:noFill/>
        </p:spPr>
        <p:txBody>
          <a:bodyPr wrap="square" lIns="0" rIns="0" tIns="0" bIns="0">
            <a:spAutoFit/>
          </a:bodyPr>
          <a:lstStyle/>
          <a:p>
            <a:pPr algn="l">
              <a:lnSpc>
                <a:spcPct val="120000"/>
              </a:lnSpc>
            </a:pPr>
            <a:r>
              <a:rPr sz="1000" b="0" i="0">
                <a:solidFill>
                  <a:srgbClr val="4A5668"/>
                </a:solidFill>
                <a:latin typeface="Consolas"/>
              </a:rPr>
              <a:t>neutral jurisdiction</a:t>
            </a:r>
          </a:p>
        </p:txBody>
      </p:sp>
      <p:sp>
        <p:nvSpPr>
          <p:cNvPr id="34" name="Rectangle 33"/>
          <p:cNvSpPr/>
          <p:nvPr/>
        </p:nvSpPr>
        <p:spPr>
          <a:xfrm>
            <a:off x="658368" y="4992624"/>
            <a:ext cx="10874959" cy="969264"/>
          </a:xfrm>
          <a:prstGeom prst="rect">
            <a:avLst/>
          </a:prstGeom>
          <a:solidFill>
            <a:srgbClr val="E7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58368" y="4992624"/>
            <a:ext cx="36576" cy="969264"/>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59536" y="5129784"/>
            <a:ext cx="10417759" cy="777240"/>
          </a:xfrm>
          <a:prstGeom prst="rect">
            <a:avLst/>
          </a:prstGeom>
          <a:noFill/>
        </p:spPr>
        <p:txBody>
          <a:bodyPr wrap="square" lIns="0" rIns="0" tIns="0" bIns="0">
            <a:spAutoFit/>
          </a:bodyPr>
          <a:lstStyle/>
          <a:p>
            <a:pPr algn="l">
              <a:lnSpc>
                <a:spcPct val="130000"/>
              </a:lnSpc>
            </a:pPr>
            <a:r>
              <a:rPr sz="1200" b="0" i="0">
                <a:solidFill>
                  <a:srgbClr val="16202E"/>
                </a:solidFill>
                <a:latin typeface="Segoe UI"/>
              </a:rPr>
              <a:t>Four of these rules turn on a number, so they can be settled by arithmetic. Three turn on what the words mean, and only those need a model. The system is built around that split, and it survives swapping the playbook: rules load as structured data carrying their own thresholds and anchor phrases, so a customer's own rules still reach the verified tier.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874959" cy="228600"/>
          </a:xfrm>
          <a:prstGeom prst="rect">
            <a:avLst/>
          </a:prstGeom>
          <a:noFill/>
        </p:spPr>
        <p:txBody>
          <a:bodyPr wrap="square" lIns="0" rIns="0" tIns="0" bIns="0">
            <a:spAutoFit/>
          </a:bodyPr>
          <a:lstStyle/>
          <a:p>
            <a:pPr algn="l">
              <a:lnSpc>
                <a:spcPct val="120000"/>
              </a:lnSpc>
            </a:pPr>
            <a:r>
              <a:rPr sz="1000" b="0" i="0" spc="120">
                <a:solidFill>
                  <a:srgbClr val="1F5FD6"/>
                </a:solidFill>
                <a:latin typeface="Consolas"/>
              </a:rPr>
              <a:t>02   ARCHITECTURE</a:t>
            </a:r>
          </a:p>
        </p:txBody>
      </p:sp>
      <p:sp>
        <p:nvSpPr>
          <p:cNvPr id="3" name="TextBox 2"/>
          <p:cNvSpPr txBox="1"/>
          <p:nvPr/>
        </p:nvSpPr>
        <p:spPr>
          <a:xfrm>
            <a:off x="658368" y="621792"/>
            <a:ext cx="10874959" cy="640080"/>
          </a:xfrm>
          <a:prstGeom prst="rect">
            <a:avLst/>
          </a:prstGeom>
          <a:noFill/>
        </p:spPr>
        <p:txBody>
          <a:bodyPr wrap="square" lIns="0" rIns="0" tIns="0" bIns="0">
            <a:spAutoFit/>
          </a:bodyPr>
          <a:lstStyle/>
          <a:p>
            <a:pPr algn="l">
              <a:lnSpc>
                <a:spcPct val="105000"/>
              </a:lnSpc>
            </a:pPr>
            <a:r>
              <a:rPr sz="2800" b="0" i="0">
                <a:solidFill>
                  <a:srgbClr val="16202E"/>
                </a:solidFill>
                <a:latin typeface="Georgia"/>
              </a:rPr>
              <a:t>Six steps, and the model only runs where it earns its place</a:t>
            </a:r>
          </a:p>
        </p:txBody>
      </p:sp>
      <p:sp>
        <p:nvSpPr>
          <p:cNvPr id="4" name="TextBox 3"/>
          <p:cNvSpPr txBox="1"/>
          <p:nvPr/>
        </p:nvSpPr>
        <p:spPr>
          <a:xfrm>
            <a:off x="658368" y="1325880"/>
            <a:ext cx="9509760" cy="457200"/>
          </a:xfrm>
          <a:prstGeom prst="rect">
            <a:avLst/>
          </a:prstGeom>
          <a:noFill/>
        </p:spPr>
        <p:txBody>
          <a:bodyPr wrap="square" lIns="0" rIns="0" tIns="0" bIns="0">
            <a:spAutoFit/>
          </a:bodyPr>
          <a:lstStyle/>
          <a:p>
            <a:pPr algn="l">
              <a:lnSpc>
                <a:spcPct val="130000"/>
              </a:lnSpc>
            </a:pPr>
            <a:r>
              <a:rPr sz="1250" b="0" i="0">
                <a:solidFill>
                  <a:srgbClr val="4A5668"/>
                </a:solidFill>
                <a:latin typeface="Segoe UI"/>
              </a:rPr>
              <a:t>One endpoint runs a fixed pipeline. Each step is one module, split at the top level into app/tools (deterministic) and app/agents (model-backed), so the diagram and the directory listing are the same thing.</a:t>
            </a:r>
          </a:p>
        </p:txBody>
      </p:sp>
      <p:pic>
        <p:nvPicPr>
          <p:cNvPr id="5" name="Picture 4" descr="diagram-hi.png"/>
          <p:cNvPicPr>
            <a:picLocks noChangeAspect="1"/>
          </p:cNvPicPr>
          <p:nvPr/>
        </p:nvPicPr>
        <p:blipFill>
          <a:blip r:embed="rId2"/>
          <a:stretch>
            <a:fillRect/>
          </a:stretch>
        </p:blipFill>
        <p:spPr>
          <a:xfrm>
            <a:off x="2392527" y="1874519"/>
            <a:ext cx="7406640" cy="4316706"/>
          </a:xfrm>
          <a:prstGeom prst="rect">
            <a:avLst/>
          </a:prstGeom>
        </p:spPr>
      </p:pic>
      <p:sp>
        <p:nvSpPr>
          <p:cNvPr id="6" name="Rectangle 5"/>
          <p:cNvSpPr/>
          <p:nvPr/>
        </p:nvSpPr>
        <p:spPr>
          <a:xfrm>
            <a:off x="658368" y="6144768"/>
            <a:ext cx="310896" cy="155448"/>
          </a:xfrm>
          <a:prstGeom prst="rect">
            <a:avLst/>
          </a:prstGeom>
          <a:solidFill>
            <a:srgbClr val="F5F7FA"/>
          </a:solidFill>
          <a:ln w="9525">
            <a:solidFill>
              <a:srgbClr val="6D788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78992" y="6117336"/>
            <a:ext cx="5120640" cy="228600"/>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Deterministic Python — repeatable, unit-tested, runs with no API key</a:t>
            </a:r>
          </a:p>
        </p:txBody>
      </p:sp>
      <p:sp>
        <p:nvSpPr>
          <p:cNvPr id="8" name="Rectangle 7"/>
          <p:cNvSpPr/>
          <p:nvPr/>
        </p:nvSpPr>
        <p:spPr>
          <a:xfrm>
            <a:off x="6400800" y="6144768"/>
            <a:ext cx="310896" cy="155448"/>
          </a:xfrm>
          <a:prstGeom prst="rect">
            <a:avLst/>
          </a:prstGeom>
          <a:solidFill>
            <a:srgbClr val="FFFFFF"/>
          </a:solidFill>
          <a:ln w="9525">
            <a:solidFill>
              <a:srgbClr val="1F5F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21424" y="6117336"/>
            <a:ext cx="4572000" cy="228600"/>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Model call — structured JSON output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874959" cy="228600"/>
          </a:xfrm>
          <a:prstGeom prst="rect">
            <a:avLst/>
          </a:prstGeom>
          <a:noFill/>
        </p:spPr>
        <p:txBody>
          <a:bodyPr wrap="square" lIns="0" rIns="0" tIns="0" bIns="0">
            <a:spAutoFit/>
          </a:bodyPr>
          <a:lstStyle/>
          <a:p>
            <a:pPr algn="l">
              <a:lnSpc>
                <a:spcPct val="120000"/>
              </a:lnSpc>
            </a:pPr>
            <a:r>
              <a:rPr sz="1000" b="0" i="0" spc="120">
                <a:solidFill>
                  <a:srgbClr val="1F5FD6"/>
                </a:solidFill>
                <a:latin typeface="Consolas"/>
              </a:rPr>
              <a:t>03   THE PRODUCT</a:t>
            </a:r>
          </a:p>
        </p:txBody>
      </p:sp>
      <p:sp>
        <p:nvSpPr>
          <p:cNvPr id="3" name="TextBox 2"/>
          <p:cNvSpPr txBox="1"/>
          <p:nvPr/>
        </p:nvSpPr>
        <p:spPr>
          <a:xfrm>
            <a:off x="658368" y="621792"/>
            <a:ext cx="10874959" cy="640080"/>
          </a:xfrm>
          <a:prstGeom prst="rect">
            <a:avLst/>
          </a:prstGeom>
          <a:noFill/>
        </p:spPr>
        <p:txBody>
          <a:bodyPr wrap="square" lIns="0" rIns="0" tIns="0" bIns="0">
            <a:spAutoFit/>
          </a:bodyPr>
          <a:lstStyle/>
          <a:p>
            <a:pPr algn="l">
              <a:lnSpc>
                <a:spcPct val="105000"/>
              </a:lnSpc>
            </a:pPr>
            <a:r>
              <a:rPr sz="2800" b="0" i="0">
                <a:solidFill>
                  <a:srgbClr val="16202E"/>
                </a:solidFill>
                <a:latin typeface="Georgia"/>
              </a:rPr>
              <a:t>Every finding shows its working</a:t>
            </a:r>
          </a:p>
        </p:txBody>
      </p:sp>
      <p:sp>
        <p:nvSpPr>
          <p:cNvPr id="4" name="TextBox 3"/>
          <p:cNvSpPr txBox="1"/>
          <p:nvPr/>
        </p:nvSpPr>
        <p:spPr>
          <a:xfrm>
            <a:off x="658368" y="1325880"/>
            <a:ext cx="9509760" cy="457200"/>
          </a:xfrm>
          <a:prstGeom prst="rect">
            <a:avLst/>
          </a:prstGeom>
          <a:noFill/>
        </p:spPr>
        <p:txBody>
          <a:bodyPr wrap="square" lIns="0" rIns="0" tIns="0" bIns="0">
            <a:spAutoFit/>
          </a:bodyPr>
          <a:lstStyle/>
          <a:p>
            <a:pPr algn="l">
              <a:lnSpc>
                <a:spcPct val="130000"/>
              </a:lnSpc>
            </a:pPr>
            <a:r>
              <a:rPr sz="1250" b="0" i="0">
                <a:solidFill>
                  <a:srgbClr val="4A5668"/>
                </a:solidFill>
                <a:latin typeface="Segoe UI"/>
              </a:rPr>
              <a:t>Findings are grouped by what the reviewer should do with them, not by clause order. Each card carries the arithmetic or the quoted wording the verdict rests on.</a:t>
            </a:r>
          </a:p>
        </p:txBody>
      </p:sp>
      <p:pic>
        <p:nvPicPr>
          <p:cNvPr id="5" name="Picture 4" descr="new-shell.png"/>
          <p:cNvPicPr>
            <a:picLocks noChangeAspect="1"/>
          </p:cNvPicPr>
          <p:nvPr/>
        </p:nvPicPr>
        <p:blipFill>
          <a:blip r:embed="rId2"/>
          <a:stretch>
            <a:fillRect/>
          </a:stretch>
        </p:blipFill>
        <p:spPr>
          <a:xfrm>
            <a:off x="658368" y="1847088"/>
            <a:ext cx="7223760" cy="4526890"/>
          </a:xfrm>
          <a:prstGeom prst="rect">
            <a:avLst/>
          </a:prstGeom>
        </p:spPr>
      </p:pic>
      <p:sp>
        <p:nvSpPr>
          <p:cNvPr id="6" name="TextBox 5"/>
          <p:cNvSpPr txBox="1"/>
          <p:nvPr/>
        </p:nvSpPr>
        <p:spPr>
          <a:xfrm>
            <a:off x="8202168" y="1874519"/>
            <a:ext cx="3331159" cy="228600"/>
          </a:xfrm>
          <a:prstGeom prst="rect">
            <a:avLst/>
          </a:prstGeom>
          <a:noFill/>
        </p:spPr>
        <p:txBody>
          <a:bodyPr wrap="square" lIns="0" rIns="0" tIns="0" bIns="0">
            <a:spAutoFit/>
          </a:bodyPr>
          <a:lstStyle/>
          <a:p>
            <a:pPr algn="l">
              <a:lnSpc>
                <a:spcPct val="120000"/>
              </a:lnSpc>
            </a:pPr>
            <a:r>
              <a:rPr sz="1200" b="1" i="0">
                <a:solidFill>
                  <a:srgbClr val="16202E"/>
                </a:solidFill>
                <a:latin typeface="Segoe UI"/>
              </a:rPr>
              <a:t>Everything in one frame</a:t>
            </a:r>
          </a:p>
        </p:txBody>
      </p:sp>
      <p:sp>
        <p:nvSpPr>
          <p:cNvPr id="7" name="Rectangle 6"/>
          <p:cNvSpPr/>
          <p:nvPr/>
        </p:nvSpPr>
        <p:spPr>
          <a:xfrm>
            <a:off x="8202168" y="2240280"/>
            <a:ext cx="333115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202168" y="2240280"/>
            <a:ext cx="27432" cy="768096"/>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48472" y="2359152"/>
            <a:ext cx="3038551" cy="566928"/>
          </a:xfrm>
          <a:prstGeom prst="rect">
            <a:avLst/>
          </a:prstGeom>
          <a:noFill/>
        </p:spPr>
        <p:txBody>
          <a:bodyPr wrap="square" lIns="0" rIns="0" tIns="0" bIns="0">
            <a:spAutoFit/>
          </a:bodyPr>
          <a:lstStyle/>
          <a:p>
            <a:pPr algn="l">
              <a:lnSpc>
                <a:spcPct val="125000"/>
              </a:lnSpc>
            </a:pPr>
            <a:r>
              <a:rPr sz="1050" b="0" i="0">
                <a:solidFill>
                  <a:srgbClr val="4A5668"/>
                </a:solidFill>
                <a:latin typeface="Segoe UI"/>
              </a:rPr>
              <a:t>A real PDF read into the editor, shown before any model call is spent on it.</a:t>
            </a:r>
          </a:p>
        </p:txBody>
      </p:sp>
      <p:sp>
        <p:nvSpPr>
          <p:cNvPr id="10" name="Rectangle 9"/>
          <p:cNvSpPr/>
          <p:nvPr/>
        </p:nvSpPr>
        <p:spPr>
          <a:xfrm>
            <a:off x="8202168" y="3108960"/>
            <a:ext cx="333115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202168" y="3108960"/>
            <a:ext cx="27432" cy="768096"/>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48472" y="3227832"/>
            <a:ext cx="3038551" cy="566928"/>
          </a:xfrm>
          <a:prstGeom prst="rect">
            <a:avLst/>
          </a:prstGeom>
          <a:noFill/>
        </p:spPr>
        <p:txBody>
          <a:bodyPr wrap="square" lIns="0" rIns="0" tIns="0" bIns="0">
            <a:spAutoFit/>
          </a:bodyPr>
          <a:lstStyle/>
          <a:p>
            <a:pPr algn="l">
              <a:lnSpc>
                <a:spcPct val="125000"/>
              </a:lnSpc>
            </a:pPr>
            <a:r>
              <a:rPr sz="1050" b="0" i="0">
                <a:solidFill>
                  <a:srgbClr val="4A5668"/>
                </a:solidFill>
                <a:latin typeface="Segoe UI"/>
              </a:rPr>
              <a:t>The playbook and the audit trail in the rail.</a:t>
            </a:r>
          </a:p>
        </p:txBody>
      </p:sp>
      <p:sp>
        <p:nvSpPr>
          <p:cNvPr id="13" name="Rectangle 12"/>
          <p:cNvSpPr/>
          <p:nvPr/>
        </p:nvSpPr>
        <p:spPr>
          <a:xfrm>
            <a:off x="8202168" y="3977639"/>
            <a:ext cx="333115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202168" y="3977639"/>
            <a:ext cx="27432" cy="768096"/>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48472" y="4096511"/>
            <a:ext cx="3038551" cy="566928"/>
          </a:xfrm>
          <a:prstGeom prst="rect">
            <a:avLst/>
          </a:prstGeom>
          <a:noFill/>
        </p:spPr>
        <p:txBody>
          <a:bodyPr wrap="square" lIns="0" rIns="0" tIns="0" bIns="0">
            <a:spAutoFit/>
          </a:bodyPr>
          <a:lstStyle/>
          <a:p>
            <a:pPr algn="l">
              <a:lnSpc>
                <a:spcPct val="125000"/>
              </a:lnSpc>
            </a:pPr>
            <a:r>
              <a:rPr sz="1050" b="0" i="0">
                <a:solidFill>
                  <a:srgbClr val="4A5668"/>
                </a:solidFill>
                <a:latin typeface="Segoe UI"/>
              </a:rPr>
              <a:t>The whole contract summarised before any scrolling.</a:t>
            </a:r>
          </a:p>
        </p:txBody>
      </p:sp>
      <p:sp>
        <p:nvSpPr>
          <p:cNvPr id="16" name="Rectangle 15"/>
          <p:cNvSpPr/>
          <p:nvPr/>
        </p:nvSpPr>
        <p:spPr>
          <a:xfrm>
            <a:off x="8202168" y="4846320"/>
            <a:ext cx="333115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02168" y="4846320"/>
            <a:ext cx="27432" cy="768096"/>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48472" y="4965192"/>
            <a:ext cx="3038551" cy="566928"/>
          </a:xfrm>
          <a:prstGeom prst="rect">
            <a:avLst/>
          </a:prstGeom>
          <a:noFill/>
        </p:spPr>
        <p:txBody>
          <a:bodyPr wrap="square" lIns="0" rIns="0" tIns="0" bIns="0">
            <a:spAutoFit/>
          </a:bodyPr>
          <a:lstStyle/>
          <a:p>
            <a:pPr algn="l">
              <a:lnSpc>
                <a:spcPct val="125000"/>
              </a:lnSpc>
            </a:pPr>
            <a:r>
              <a:rPr sz="1050" b="0" i="0">
                <a:solidFill>
                  <a:srgbClr val="4A5668"/>
                </a:solidFill>
                <a:latin typeface="Segoe UI"/>
              </a:rPr>
              <a:t>Findings filtered to what needs a human, or what to escalate.</a:t>
            </a:r>
          </a:p>
        </p:txBody>
      </p:sp>
      <p:sp>
        <p:nvSpPr>
          <p:cNvPr id="19" name="TextBox 18"/>
          <p:cNvSpPr txBox="1"/>
          <p:nvPr/>
        </p:nvSpPr>
        <p:spPr>
          <a:xfrm>
            <a:off x="658368" y="6455664"/>
            <a:ext cx="7223760" cy="256032"/>
          </a:xfrm>
          <a:prstGeom prst="rect">
            <a:avLst/>
          </a:prstGeom>
          <a:noFill/>
        </p:spPr>
        <p:txBody>
          <a:bodyPr wrap="square" lIns="0" rIns="0" tIns="0" bIns="0">
            <a:spAutoFit/>
          </a:bodyPr>
          <a:lstStyle/>
          <a:p>
            <a:pPr algn="l">
              <a:lnSpc>
                <a:spcPct val="120000"/>
              </a:lnSpc>
            </a:pPr>
            <a:r>
              <a:rPr sz="1000" b="0" i="1">
                <a:solidFill>
                  <a:srgbClr val="6D7888"/>
                </a:solidFill>
                <a:latin typeface="Segoe UI"/>
              </a:rPr>
              <a:t>Upload, playbook, audit trail and results on one screen, in light or dark.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874959" cy="228600"/>
          </a:xfrm>
          <a:prstGeom prst="rect">
            <a:avLst/>
          </a:prstGeom>
          <a:noFill/>
        </p:spPr>
        <p:txBody>
          <a:bodyPr wrap="square" lIns="0" rIns="0" tIns="0" bIns="0">
            <a:spAutoFit/>
          </a:bodyPr>
          <a:lstStyle/>
          <a:p>
            <a:pPr algn="l">
              <a:lnSpc>
                <a:spcPct val="120000"/>
              </a:lnSpc>
            </a:pPr>
            <a:r>
              <a:rPr sz="1000" b="0" i="0" spc="120">
                <a:solidFill>
                  <a:srgbClr val="1F5FD6"/>
                </a:solidFill>
                <a:latin typeface="Consolas"/>
              </a:rPr>
              <a:t>04   WHERE THE AI GOT IT WRONG</a:t>
            </a:r>
          </a:p>
        </p:txBody>
      </p:sp>
      <p:sp>
        <p:nvSpPr>
          <p:cNvPr id="3" name="TextBox 2"/>
          <p:cNvSpPr txBox="1"/>
          <p:nvPr/>
        </p:nvSpPr>
        <p:spPr>
          <a:xfrm>
            <a:off x="658368" y="621792"/>
            <a:ext cx="10874959" cy="640080"/>
          </a:xfrm>
          <a:prstGeom prst="rect">
            <a:avLst/>
          </a:prstGeom>
          <a:noFill/>
        </p:spPr>
        <p:txBody>
          <a:bodyPr wrap="square" lIns="0" rIns="0" tIns="0" bIns="0">
            <a:spAutoFit/>
          </a:bodyPr>
          <a:lstStyle/>
          <a:p>
            <a:pPr algn="l">
              <a:lnSpc>
                <a:spcPct val="105000"/>
              </a:lnSpc>
            </a:pPr>
            <a:r>
              <a:rPr sz="2800" b="0" i="0">
                <a:solidFill>
                  <a:srgbClr val="16202E"/>
                </a:solidFill>
                <a:latin typeface="Georgia"/>
              </a:rPr>
              <a:t>Two bugs Claude wrote, and its own tests passed</a:t>
            </a:r>
          </a:p>
        </p:txBody>
      </p:sp>
      <p:sp>
        <p:nvSpPr>
          <p:cNvPr id="4" name="TextBox 3"/>
          <p:cNvSpPr txBox="1"/>
          <p:nvPr/>
        </p:nvSpPr>
        <p:spPr>
          <a:xfrm>
            <a:off x="658368" y="1325880"/>
            <a:ext cx="9509760" cy="457200"/>
          </a:xfrm>
          <a:prstGeom prst="rect">
            <a:avLst/>
          </a:prstGeom>
          <a:noFill/>
        </p:spPr>
        <p:txBody>
          <a:bodyPr wrap="square" lIns="0" rIns="0" tIns="0" bIns="0">
            <a:spAutoFit/>
          </a:bodyPr>
          <a:lstStyle/>
          <a:p>
            <a:pPr algn="l">
              <a:lnSpc>
                <a:spcPct val="130000"/>
              </a:lnSpc>
            </a:pPr>
            <a:r>
              <a:rPr sz="1250" b="0" i="0">
                <a:solidFill>
                  <a:srgbClr val="4A5668"/>
                </a:solidFill>
                <a:latin typeface="Segoe UI"/>
              </a:rPr>
              <a:t>Every module here was AI-generated. Both bugs survived review and a green test suite, and were caught only by reading the product output against the sample contract.</a:t>
            </a:r>
          </a:p>
        </p:txBody>
      </p:sp>
      <p:sp>
        <p:nvSpPr>
          <p:cNvPr id="5" name="TextBox 4"/>
          <p:cNvSpPr txBox="1"/>
          <p:nvPr/>
        </p:nvSpPr>
        <p:spPr>
          <a:xfrm>
            <a:off x="658368" y="2057400"/>
            <a:ext cx="5254599" cy="201168"/>
          </a:xfrm>
          <a:prstGeom prst="rect">
            <a:avLst/>
          </a:prstGeom>
          <a:noFill/>
        </p:spPr>
        <p:txBody>
          <a:bodyPr wrap="square" lIns="0" rIns="0" tIns="0" bIns="0">
            <a:spAutoFit/>
          </a:bodyPr>
          <a:lstStyle/>
          <a:p>
            <a:pPr algn="l">
              <a:lnSpc>
                <a:spcPct val="120000"/>
              </a:lnSpc>
            </a:pPr>
            <a:r>
              <a:rPr sz="950" b="0" i="0" spc="100">
                <a:solidFill>
                  <a:srgbClr val="B4232B"/>
                </a:solidFill>
                <a:latin typeface="Consolas"/>
              </a:rPr>
              <a:t>BUG 1  ·  CORRECT IN EACH PART, WRONG AS A WHOLE</a:t>
            </a:r>
          </a:p>
        </p:txBody>
      </p:sp>
      <p:sp>
        <p:nvSpPr>
          <p:cNvPr id="6" name="TextBox 5"/>
          <p:cNvSpPr txBox="1"/>
          <p:nvPr/>
        </p:nvSpPr>
        <p:spPr>
          <a:xfrm>
            <a:off x="658368" y="2331720"/>
            <a:ext cx="5254599" cy="548640"/>
          </a:xfrm>
          <a:prstGeom prst="rect">
            <a:avLst/>
          </a:prstGeom>
          <a:noFill/>
        </p:spPr>
        <p:txBody>
          <a:bodyPr wrap="square" lIns="0" rIns="0" tIns="0" bIns="0">
            <a:spAutoFit/>
          </a:bodyPr>
          <a:lstStyle/>
          <a:p>
            <a:pPr algn="l">
              <a:lnSpc>
                <a:spcPct val="110000"/>
              </a:lnSpc>
            </a:pPr>
            <a:r>
              <a:rPr sz="1500" b="1" i="0">
                <a:solidFill>
                  <a:srgbClr val="16202E"/>
                </a:solidFill>
                <a:latin typeface="Segoe UI"/>
              </a:rPr>
              <a:t>Two redlines on one clause,
each undoing the other</a:t>
            </a:r>
          </a:p>
        </p:txBody>
      </p:sp>
      <p:sp>
        <p:nvSpPr>
          <p:cNvPr id="7" name="TextBox 6"/>
          <p:cNvSpPr txBox="1"/>
          <p:nvPr/>
        </p:nvSpPr>
        <p:spPr>
          <a:xfrm>
            <a:off x="658368" y="2990088"/>
            <a:ext cx="5254599" cy="548640"/>
          </a:xfrm>
          <a:prstGeom prst="rect">
            <a:avLst/>
          </a:prstGeom>
          <a:noFill/>
        </p:spPr>
        <p:txBody>
          <a:bodyPr wrap="square" lIns="0" rIns="0" tIns="0" bIns="0">
            <a:spAutoFit/>
          </a:bodyPr>
          <a:lstStyle/>
          <a:p>
            <a:pPr algn="l">
              <a:lnSpc>
                <a:spcPct val="130000"/>
              </a:lnSpc>
            </a:pPr>
            <a:r>
              <a:rPr sz="1100" b="0" i="0">
                <a:solidFill>
                  <a:srgbClr val="4A5668"/>
                </a:solidFill>
                <a:latin typeface="Segoe UI"/>
              </a:rPr>
              <a:t>Clause 1 breaches two rules at once. Claude drafted per clause-rule pair, which reads sensibly one function at a time, and kept the other breach each time:</a:t>
            </a:r>
          </a:p>
        </p:txBody>
      </p:sp>
      <p:sp>
        <p:nvSpPr>
          <p:cNvPr id="8" name="Rectangle 7"/>
          <p:cNvSpPr/>
          <p:nvPr/>
        </p:nvSpPr>
        <p:spPr>
          <a:xfrm>
            <a:off x="658368" y="3685032"/>
            <a:ext cx="5254599" cy="658368"/>
          </a:xfrm>
          <a:prstGeom prst="rect">
            <a:avLst/>
          </a:prstGeom>
          <a:solidFill>
            <a:srgbClr val="FC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3685032"/>
            <a:ext cx="32004" cy="658368"/>
          </a:xfrm>
          <a:prstGeom prst="rect">
            <a:avLst/>
          </a:prstGeom>
          <a:solidFill>
            <a:srgbClr val="B4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3776472"/>
            <a:ext cx="4943703" cy="182880"/>
          </a:xfrm>
          <a:prstGeom prst="rect">
            <a:avLst/>
          </a:prstGeom>
          <a:noFill/>
        </p:spPr>
        <p:txBody>
          <a:bodyPr wrap="square" lIns="0" rIns="0" tIns="0" bIns="0">
            <a:spAutoFit/>
          </a:bodyPr>
          <a:lstStyle/>
          <a:p>
            <a:pPr algn="l">
              <a:lnSpc>
                <a:spcPct val="120000"/>
              </a:lnSpc>
            </a:pPr>
            <a:r>
              <a:rPr sz="1000" b="1" i="0">
                <a:solidFill>
                  <a:srgbClr val="B4232B"/>
                </a:solidFill>
                <a:latin typeface="Consolas"/>
              </a:rPr>
              <a:t>Redline A — auto-renewal</a:t>
            </a:r>
          </a:p>
        </p:txBody>
      </p:sp>
      <p:sp>
        <p:nvSpPr>
          <p:cNvPr id="11" name="TextBox 10"/>
          <p:cNvSpPr txBox="1"/>
          <p:nvPr/>
        </p:nvSpPr>
        <p:spPr>
          <a:xfrm>
            <a:off x="822959" y="3986784"/>
            <a:ext cx="4943703" cy="310896"/>
          </a:xfrm>
          <a:prstGeom prst="rect">
            <a:avLst/>
          </a:prstGeom>
          <a:noFill/>
        </p:spPr>
        <p:txBody>
          <a:bodyPr wrap="square" lIns="0" rIns="0" tIns="0" bIns="0">
            <a:spAutoFit/>
          </a:bodyPr>
          <a:lstStyle/>
          <a:p>
            <a:pPr algn="l">
              <a:lnSpc>
                <a:spcPct val="125000"/>
              </a:lnSpc>
            </a:pPr>
            <a:r>
              <a:rPr sz="1050" b="0" i="0">
                <a:solidFill>
                  <a:srgbClr val="16202E"/>
                </a:solidFill>
                <a:latin typeface="Segoe UI"/>
              </a:rPr>
              <a:t>Set notice to 30 days, kept “terminate for convenience upon 7 days”</a:t>
            </a:r>
          </a:p>
        </p:txBody>
      </p:sp>
      <p:sp>
        <p:nvSpPr>
          <p:cNvPr id="12" name="Rectangle 11"/>
          <p:cNvSpPr/>
          <p:nvPr/>
        </p:nvSpPr>
        <p:spPr>
          <a:xfrm>
            <a:off x="658368" y="4434840"/>
            <a:ext cx="5254599" cy="658368"/>
          </a:xfrm>
          <a:prstGeom prst="rect">
            <a:avLst/>
          </a:prstGeom>
          <a:solidFill>
            <a:srgbClr val="FCEC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4434840"/>
            <a:ext cx="32004" cy="658368"/>
          </a:xfrm>
          <a:prstGeom prst="rect">
            <a:avLst/>
          </a:prstGeom>
          <a:solidFill>
            <a:srgbClr val="B4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4526280"/>
            <a:ext cx="4943703" cy="182880"/>
          </a:xfrm>
          <a:prstGeom prst="rect">
            <a:avLst/>
          </a:prstGeom>
          <a:noFill/>
        </p:spPr>
        <p:txBody>
          <a:bodyPr wrap="square" lIns="0" rIns="0" tIns="0" bIns="0">
            <a:spAutoFit/>
          </a:bodyPr>
          <a:lstStyle/>
          <a:p>
            <a:pPr algn="l">
              <a:lnSpc>
                <a:spcPct val="120000"/>
              </a:lnSpc>
            </a:pPr>
            <a:r>
              <a:rPr sz="1000" b="1" i="0">
                <a:solidFill>
                  <a:srgbClr val="B4232B"/>
                </a:solidFill>
                <a:latin typeface="Consolas"/>
              </a:rPr>
              <a:t>Redline B — termination</a:t>
            </a:r>
          </a:p>
        </p:txBody>
      </p:sp>
      <p:sp>
        <p:nvSpPr>
          <p:cNvPr id="15" name="TextBox 14"/>
          <p:cNvSpPr txBox="1"/>
          <p:nvPr/>
        </p:nvSpPr>
        <p:spPr>
          <a:xfrm>
            <a:off x="822959" y="4736592"/>
            <a:ext cx="4943703" cy="310896"/>
          </a:xfrm>
          <a:prstGeom prst="rect">
            <a:avLst/>
          </a:prstGeom>
          <a:noFill/>
        </p:spPr>
        <p:txBody>
          <a:bodyPr wrap="square" lIns="0" rIns="0" tIns="0" bIns="0">
            <a:spAutoFit/>
          </a:bodyPr>
          <a:lstStyle/>
          <a:p>
            <a:pPr algn="l">
              <a:lnSpc>
                <a:spcPct val="125000"/>
              </a:lnSpc>
            </a:pPr>
            <a:r>
              <a:rPr sz="1050" b="0" i="0">
                <a:solidFill>
                  <a:srgbClr val="16202E"/>
                </a:solidFill>
                <a:latin typeface="Segoe UI"/>
              </a:rPr>
              <a:t>Set notice to 30 days, kept “non-renewal at least 10 days”</a:t>
            </a:r>
          </a:p>
        </p:txBody>
      </p:sp>
      <p:sp>
        <p:nvSpPr>
          <p:cNvPr id="16" name="TextBox 15"/>
          <p:cNvSpPr txBox="1"/>
          <p:nvPr/>
        </p:nvSpPr>
        <p:spPr>
          <a:xfrm>
            <a:off x="658368" y="5221224"/>
            <a:ext cx="5254599" cy="457200"/>
          </a:xfrm>
          <a:prstGeom prst="rect">
            <a:avLst/>
          </a:prstGeom>
          <a:noFill/>
        </p:spPr>
        <p:txBody>
          <a:bodyPr wrap="square" lIns="0" rIns="0" tIns="0" bIns="0">
            <a:spAutoFit/>
          </a:bodyPr>
          <a:lstStyle/>
          <a:p>
            <a:pPr algn="l">
              <a:lnSpc>
                <a:spcPct val="130000"/>
              </a:lnSpc>
            </a:pPr>
            <a:r>
              <a:rPr sz="1100" b="0" i="0">
                <a:solidFill>
                  <a:srgbClr val="4A5668"/>
                </a:solidFill>
                <a:latin typeface="Segoe UI"/>
              </a:rPr>
              <a:t>Paste either one and you fix a violation while shipping the other. Every test passed: the bug lives only in the relationship between two findings.</a:t>
            </a:r>
          </a:p>
        </p:txBody>
      </p:sp>
      <p:sp>
        <p:nvSpPr>
          <p:cNvPr id="17" name="Rectangle 16"/>
          <p:cNvSpPr/>
          <p:nvPr/>
        </p:nvSpPr>
        <p:spPr>
          <a:xfrm>
            <a:off x="658368" y="5733288"/>
            <a:ext cx="5254599" cy="93268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58368" y="5733288"/>
            <a:ext cx="32004" cy="932688"/>
          </a:xfrm>
          <a:prstGeom prst="rect">
            <a:avLst/>
          </a:prstGeom>
          <a:solidFill>
            <a:srgbClr val="12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5815583"/>
            <a:ext cx="548640" cy="182880"/>
          </a:xfrm>
          <a:prstGeom prst="rect">
            <a:avLst/>
          </a:prstGeom>
          <a:noFill/>
        </p:spPr>
        <p:txBody>
          <a:bodyPr wrap="square" lIns="0" rIns="0" tIns="0" bIns="0">
            <a:spAutoFit/>
          </a:bodyPr>
          <a:lstStyle/>
          <a:p>
            <a:pPr algn="l">
              <a:lnSpc>
                <a:spcPct val="120000"/>
              </a:lnSpc>
            </a:pPr>
            <a:r>
              <a:rPr sz="950" b="1" i="0">
                <a:solidFill>
                  <a:srgbClr val="12664A"/>
                </a:solidFill>
                <a:latin typeface="Consolas"/>
              </a:rPr>
              <a:t>FIX</a:t>
            </a:r>
          </a:p>
        </p:txBody>
      </p:sp>
      <p:sp>
        <p:nvSpPr>
          <p:cNvPr id="20" name="TextBox 19"/>
          <p:cNvSpPr txBox="1"/>
          <p:nvPr/>
        </p:nvSpPr>
        <p:spPr>
          <a:xfrm>
            <a:off x="822959" y="6016751"/>
            <a:ext cx="4943703" cy="603504"/>
          </a:xfrm>
          <a:prstGeom prst="rect">
            <a:avLst/>
          </a:prstGeom>
          <a:noFill/>
        </p:spPr>
        <p:txBody>
          <a:bodyPr wrap="square" lIns="0" rIns="0" tIns="0" bIns="0">
            <a:spAutoFit/>
          </a:bodyPr>
          <a:lstStyle/>
          <a:p>
            <a:pPr algn="l">
              <a:lnSpc>
                <a:spcPct val="125000"/>
              </a:lnSpc>
            </a:pPr>
            <a:r>
              <a:rPr sz="1050" b="0" i="0">
                <a:solidFill>
                  <a:srgbClr val="16202E"/>
                </a:solidFill>
                <a:latin typeface="Segoe UI"/>
              </a:rPr>
              <a:t>Drafting is grouped by clause, so a clause gets one replacement satisfying every rule it breaches. A regression test asserts clause 1 yields one text containing neither value.</a:t>
            </a:r>
          </a:p>
        </p:txBody>
      </p:sp>
      <p:sp>
        <p:nvSpPr>
          <p:cNvPr id="21" name="TextBox 20"/>
          <p:cNvSpPr txBox="1"/>
          <p:nvPr/>
        </p:nvSpPr>
        <p:spPr>
          <a:xfrm>
            <a:off x="6278727" y="2057400"/>
            <a:ext cx="5254599" cy="201168"/>
          </a:xfrm>
          <a:prstGeom prst="rect">
            <a:avLst/>
          </a:prstGeom>
          <a:noFill/>
        </p:spPr>
        <p:txBody>
          <a:bodyPr wrap="square" lIns="0" rIns="0" tIns="0" bIns="0">
            <a:spAutoFit/>
          </a:bodyPr>
          <a:lstStyle/>
          <a:p>
            <a:pPr algn="l">
              <a:lnSpc>
                <a:spcPct val="120000"/>
              </a:lnSpc>
            </a:pPr>
            <a:r>
              <a:rPr sz="950" b="0" i="0" spc="100">
                <a:solidFill>
                  <a:srgbClr val="B4232B"/>
                </a:solidFill>
                <a:latin typeface="Consolas"/>
              </a:rPr>
              <a:t>BUG 2  ·  RIGHT CODE, WRONG ASSUMPTION</a:t>
            </a:r>
          </a:p>
        </p:txBody>
      </p:sp>
      <p:sp>
        <p:nvSpPr>
          <p:cNvPr id="22" name="TextBox 21"/>
          <p:cNvSpPr txBox="1"/>
          <p:nvPr/>
        </p:nvSpPr>
        <p:spPr>
          <a:xfrm>
            <a:off x="6278727" y="2331720"/>
            <a:ext cx="5254599" cy="548640"/>
          </a:xfrm>
          <a:prstGeom prst="rect">
            <a:avLst/>
          </a:prstGeom>
          <a:noFill/>
        </p:spPr>
        <p:txBody>
          <a:bodyPr wrap="square" lIns="0" rIns="0" tIns="0" bIns="0">
            <a:spAutoFit/>
          </a:bodyPr>
          <a:lstStyle/>
          <a:p>
            <a:pPr algn="l">
              <a:lnSpc>
                <a:spcPct val="110000"/>
              </a:lnSpc>
            </a:pPr>
            <a:r>
              <a:rPr sz="1500" b="1" i="0">
                <a:solidFill>
                  <a:srgbClr val="16202E"/>
                </a:solidFill>
                <a:latin typeface="Segoe UI"/>
              </a:rPr>
              <a:t>The model is a poor judge
of its own confidence</a:t>
            </a:r>
          </a:p>
        </p:txBody>
      </p:sp>
      <p:sp>
        <p:nvSpPr>
          <p:cNvPr id="23" name="TextBox 22"/>
          <p:cNvSpPr txBox="1"/>
          <p:nvPr/>
        </p:nvSpPr>
        <p:spPr>
          <a:xfrm>
            <a:off x="6278727" y="2990088"/>
            <a:ext cx="5254599" cy="365760"/>
          </a:xfrm>
          <a:prstGeom prst="rect">
            <a:avLst/>
          </a:prstGeom>
          <a:noFill/>
        </p:spPr>
        <p:txBody>
          <a:bodyPr wrap="square" lIns="0" rIns="0" tIns="0" bIns="0">
            <a:spAutoFit/>
          </a:bodyPr>
          <a:lstStyle/>
          <a:p>
            <a:pPr algn="l">
              <a:lnSpc>
                <a:spcPct val="130000"/>
              </a:lnSpc>
            </a:pPr>
            <a:r>
              <a:rPr sz="1100" b="0" i="0">
                <a:solidFill>
                  <a:srgbClr val="4A5668"/>
                </a:solidFill>
                <a:latin typeface="Segoe UI"/>
              </a:rPr>
              <a:t>Asked for confidence handling, Claude let the model score itself and thresholded on it. It never fired once. Against a deliberately vague draft:</a:t>
            </a:r>
          </a:p>
        </p:txBody>
      </p:sp>
      <p:sp>
        <p:nvSpPr>
          <p:cNvPr id="24" name="TextBox 23"/>
          <p:cNvSpPr txBox="1"/>
          <p:nvPr/>
        </p:nvSpPr>
        <p:spPr>
          <a:xfrm>
            <a:off x="6278727" y="3447288"/>
            <a:ext cx="329184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WORDING IT QUOTED AS EVIDENCE</a:t>
            </a:r>
          </a:p>
        </p:txBody>
      </p:sp>
      <p:sp>
        <p:nvSpPr>
          <p:cNvPr id="25" name="TextBox 24"/>
          <p:cNvSpPr txBox="1"/>
          <p:nvPr/>
        </p:nvSpPr>
        <p:spPr>
          <a:xfrm>
            <a:off x="9890607" y="3447288"/>
            <a:ext cx="64008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CONF.</a:t>
            </a:r>
          </a:p>
        </p:txBody>
      </p:sp>
      <p:sp>
        <p:nvSpPr>
          <p:cNvPr id="26" name="TextBox 25"/>
          <p:cNvSpPr txBox="1"/>
          <p:nvPr/>
        </p:nvSpPr>
        <p:spPr>
          <a:xfrm>
            <a:off x="10594695" y="3447288"/>
            <a:ext cx="109728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VERDICT</a:t>
            </a:r>
          </a:p>
        </p:txBody>
      </p:sp>
      <p:sp>
        <p:nvSpPr>
          <p:cNvPr id="27" name="Rectangle 26"/>
          <p:cNvSpPr/>
          <p:nvPr/>
        </p:nvSpPr>
        <p:spPr>
          <a:xfrm>
            <a:off x="6278727" y="3648456"/>
            <a:ext cx="5254599" cy="10972"/>
          </a:xfrm>
          <a:prstGeom prst="rect">
            <a:avLst/>
          </a:prstGeom>
          <a:solidFill>
            <a:srgbClr val="6D7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78727" y="3739896"/>
            <a:ext cx="3520440" cy="384048"/>
          </a:xfrm>
          <a:prstGeom prst="rect">
            <a:avLst/>
          </a:prstGeom>
          <a:noFill/>
        </p:spPr>
        <p:txBody>
          <a:bodyPr wrap="square" lIns="0" rIns="0" tIns="0" bIns="0">
            <a:spAutoFit/>
          </a:bodyPr>
          <a:lstStyle/>
          <a:p>
            <a:pPr algn="l">
              <a:lnSpc>
                <a:spcPct val="115000"/>
              </a:lnSpc>
            </a:pPr>
            <a:r>
              <a:rPr sz="950" b="0" i="0">
                <a:solidFill>
                  <a:srgbClr val="4A5668"/>
                </a:solidFill>
                <a:latin typeface="Consolas"/>
              </a:rPr>
              <a:t>“a commercially reasonable amount”</a:t>
            </a:r>
          </a:p>
        </p:txBody>
      </p:sp>
      <p:sp>
        <p:nvSpPr>
          <p:cNvPr id="29" name="TextBox 28"/>
          <p:cNvSpPr txBox="1"/>
          <p:nvPr/>
        </p:nvSpPr>
        <p:spPr>
          <a:xfrm>
            <a:off x="9890607" y="3739896"/>
            <a:ext cx="640080" cy="182880"/>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0.80</a:t>
            </a:r>
          </a:p>
        </p:txBody>
      </p:sp>
      <p:sp>
        <p:nvSpPr>
          <p:cNvPr id="30" name="TextBox 29"/>
          <p:cNvSpPr txBox="1"/>
          <p:nvPr/>
        </p:nvSpPr>
        <p:spPr>
          <a:xfrm>
            <a:off x="10594695" y="3739896"/>
            <a:ext cx="1188720" cy="182880"/>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violation</a:t>
            </a:r>
          </a:p>
        </p:txBody>
      </p:sp>
      <p:sp>
        <p:nvSpPr>
          <p:cNvPr id="31" name="Rectangle 30"/>
          <p:cNvSpPr/>
          <p:nvPr/>
        </p:nvSpPr>
        <p:spPr>
          <a:xfrm>
            <a:off x="6278727" y="4142232"/>
            <a:ext cx="5254599"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78727" y="4215383"/>
            <a:ext cx="3520440" cy="384048"/>
          </a:xfrm>
          <a:prstGeom prst="rect">
            <a:avLst/>
          </a:prstGeom>
          <a:noFill/>
        </p:spPr>
        <p:txBody>
          <a:bodyPr wrap="square" lIns="0" rIns="0" tIns="0" bIns="0">
            <a:spAutoFit/>
          </a:bodyPr>
          <a:lstStyle/>
          <a:p>
            <a:pPr algn="l">
              <a:lnSpc>
                <a:spcPct val="115000"/>
              </a:lnSpc>
            </a:pPr>
            <a:r>
              <a:rPr sz="950" b="0" i="0">
                <a:solidFill>
                  <a:srgbClr val="4A5668"/>
                </a:solidFill>
                <a:latin typeface="Consolas"/>
              </a:rPr>
              <a:t>“reasonable prior written notice, to be determined”</a:t>
            </a:r>
          </a:p>
        </p:txBody>
      </p:sp>
      <p:sp>
        <p:nvSpPr>
          <p:cNvPr id="33" name="TextBox 32"/>
          <p:cNvSpPr txBox="1"/>
          <p:nvPr/>
        </p:nvSpPr>
        <p:spPr>
          <a:xfrm>
            <a:off x="9890607" y="4215383"/>
            <a:ext cx="640080" cy="182880"/>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0.90</a:t>
            </a:r>
          </a:p>
        </p:txBody>
      </p:sp>
      <p:sp>
        <p:nvSpPr>
          <p:cNvPr id="34" name="TextBox 33"/>
          <p:cNvSpPr txBox="1"/>
          <p:nvPr/>
        </p:nvSpPr>
        <p:spPr>
          <a:xfrm>
            <a:off x="10594695" y="4215383"/>
            <a:ext cx="1188720" cy="182880"/>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violation</a:t>
            </a:r>
          </a:p>
        </p:txBody>
      </p:sp>
      <p:sp>
        <p:nvSpPr>
          <p:cNvPr id="35" name="Rectangle 34"/>
          <p:cNvSpPr/>
          <p:nvPr/>
        </p:nvSpPr>
        <p:spPr>
          <a:xfrm>
            <a:off x="6278727" y="4617720"/>
            <a:ext cx="5254599"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78727" y="4690872"/>
            <a:ext cx="3520440" cy="384048"/>
          </a:xfrm>
          <a:prstGeom prst="rect">
            <a:avLst/>
          </a:prstGeom>
          <a:noFill/>
        </p:spPr>
        <p:txBody>
          <a:bodyPr wrap="square" lIns="0" rIns="0" tIns="0" bIns="0">
            <a:spAutoFit/>
          </a:bodyPr>
          <a:lstStyle/>
          <a:p>
            <a:pPr algn="l">
              <a:lnSpc>
                <a:spcPct val="115000"/>
              </a:lnSpc>
            </a:pPr>
            <a:r>
              <a:rPr sz="950" b="0" i="0">
                <a:solidFill>
                  <a:srgbClr val="4A5668"/>
                </a:solidFill>
                <a:latin typeface="Consolas"/>
              </a:rPr>
              <a:t>“such jurisdiction as the parties may mutually determine”</a:t>
            </a:r>
          </a:p>
        </p:txBody>
      </p:sp>
      <p:sp>
        <p:nvSpPr>
          <p:cNvPr id="37" name="TextBox 36"/>
          <p:cNvSpPr txBox="1"/>
          <p:nvPr/>
        </p:nvSpPr>
        <p:spPr>
          <a:xfrm>
            <a:off x="9890607" y="4690872"/>
            <a:ext cx="640080" cy="182880"/>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0.90</a:t>
            </a:r>
          </a:p>
        </p:txBody>
      </p:sp>
      <p:sp>
        <p:nvSpPr>
          <p:cNvPr id="38" name="TextBox 37"/>
          <p:cNvSpPr txBox="1"/>
          <p:nvPr/>
        </p:nvSpPr>
        <p:spPr>
          <a:xfrm>
            <a:off x="10594695" y="4690872"/>
            <a:ext cx="1188720" cy="182880"/>
          </a:xfrm>
          <a:prstGeom prst="rect">
            <a:avLst/>
          </a:prstGeom>
          <a:noFill/>
        </p:spPr>
        <p:txBody>
          <a:bodyPr wrap="square" lIns="0" rIns="0" tIns="0" bIns="0">
            <a:spAutoFit/>
          </a:bodyPr>
          <a:lstStyle/>
          <a:p>
            <a:pPr algn="l">
              <a:lnSpc>
                <a:spcPct val="120000"/>
              </a:lnSpc>
            </a:pPr>
            <a:r>
              <a:rPr sz="1050" b="1" i="0">
                <a:solidFill>
                  <a:srgbClr val="12664A"/>
                </a:solidFill>
                <a:latin typeface="Segoe UI"/>
              </a:rPr>
              <a:t>no violation</a:t>
            </a:r>
          </a:p>
        </p:txBody>
      </p:sp>
      <p:sp>
        <p:nvSpPr>
          <p:cNvPr id="39" name="Rectangle 38"/>
          <p:cNvSpPr/>
          <p:nvPr/>
        </p:nvSpPr>
        <p:spPr>
          <a:xfrm>
            <a:off x="6278727" y="5093208"/>
            <a:ext cx="5254599"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278727" y="5294376"/>
            <a:ext cx="5254599" cy="457200"/>
          </a:xfrm>
          <a:prstGeom prst="rect">
            <a:avLst/>
          </a:prstGeom>
          <a:noFill/>
        </p:spPr>
        <p:txBody>
          <a:bodyPr wrap="square" lIns="0" rIns="0" tIns="0" bIns="0">
            <a:spAutoFit/>
          </a:bodyPr>
          <a:lstStyle/>
          <a:p>
            <a:pPr algn="l">
              <a:lnSpc>
                <a:spcPct val="130000"/>
              </a:lnSpc>
            </a:pPr>
            <a:r>
              <a:rPr sz="1100" b="0" i="0">
                <a:solidFill>
                  <a:srgbClr val="4A5668"/>
                </a:solidFill>
                <a:latin typeface="Segoe UI"/>
              </a:rPr>
              <a:t>Confidence sat at 0.8–0.9 however little the clause committed to. The code was not buggy; the wrong assumption was about model behaviour.</a:t>
            </a:r>
          </a:p>
        </p:txBody>
      </p:sp>
      <p:sp>
        <p:nvSpPr>
          <p:cNvPr id="41" name="Rectangle 40"/>
          <p:cNvSpPr/>
          <p:nvPr/>
        </p:nvSpPr>
        <p:spPr>
          <a:xfrm>
            <a:off x="6278727" y="5733288"/>
            <a:ext cx="5254599" cy="932688"/>
          </a:xfrm>
          <a:prstGeom prst="rect">
            <a:avLst/>
          </a:prstGeom>
          <a:solidFill>
            <a:srgbClr val="E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78727" y="5733288"/>
            <a:ext cx="32004" cy="932688"/>
          </a:xfrm>
          <a:prstGeom prst="rect">
            <a:avLst/>
          </a:prstGeom>
          <a:solidFill>
            <a:srgbClr val="12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43319" y="5815583"/>
            <a:ext cx="548640" cy="182880"/>
          </a:xfrm>
          <a:prstGeom prst="rect">
            <a:avLst/>
          </a:prstGeom>
          <a:noFill/>
        </p:spPr>
        <p:txBody>
          <a:bodyPr wrap="square" lIns="0" rIns="0" tIns="0" bIns="0">
            <a:spAutoFit/>
          </a:bodyPr>
          <a:lstStyle/>
          <a:p>
            <a:pPr algn="l">
              <a:lnSpc>
                <a:spcPct val="120000"/>
              </a:lnSpc>
            </a:pPr>
            <a:r>
              <a:rPr sz="950" b="1" i="0">
                <a:solidFill>
                  <a:srgbClr val="12664A"/>
                </a:solidFill>
                <a:latin typeface="Consolas"/>
              </a:rPr>
              <a:t>FIX</a:t>
            </a:r>
          </a:p>
        </p:txBody>
      </p:sp>
      <p:sp>
        <p:nvSpPr>
          <p:cNvPr id="44" name="TextBox 43"/>
          <p:cNvSpPr txBox="1"/>
          <p:nvPr/>
        </p:nvSpPr>
        <p:spPr>
          <a:xfrm>
            <a:off x="6443319" y="6016751"/>
            <a:ext cx="4943703" cy="603504"/>
          </a:xfrm>
          <a:prstGeom prst="rect">
            <a:avLst/>
          </a:prstGeom>
          <a:noFill/>
        </p:spPr>
        <p:txBody>
          <a:bodyPr wrap="square" lIns="0" rIns="0" tIns="0" bIns="0">
            <a:spAutoFit/>
          </a:bodyPr>
          <a:lstStyle/>
          <a:p>
            <a:pPr algn="l">
              <a:lnSpc>
                <a:spcPct val="125000"/>
              </a:lnSpc>
            </a:pPr>
            <a:r>
              <a:rPr sz="1050" b="0" i="0">
                <a:solidFill>
                  <a:srgbClr val="16202E"/>
                </a:solidFill>
                <a:latin typeface="Segoe UI"/>
              </a:rPr>
              <a:t>A deterministic vagueness check now overrides confidence downward, as arithmetic already overrode it upward. Vague draft went from 4 auto-suggested to 0, with all 5 sent to a human.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874959" cy="228600"/>
          </a:xfrm>
          <a:prstGeom prst="rect">
            <a:avLst/>
          </a:prstGeom>
          <a:noFill/>
        </p:spPr>
        <p:txBody>
          <a:bodyPr wrap="square" lIns="0" rIns="0" tIns="0" bIns="0">
            <a:spAutoFit/>
          </a:bodyPr>
          <a:lstStyle/>
          <a:p>
            <a:pPr algn="l">
              <a:lnSpc>
                <a:spcPct val="120000"/>
              </a:lnSpc>
            </a:pPr>
            <a:r>
              <a:rPr sz="1000" b="0" i="0" spc="120">
                <a:solidFill>
                  <a:srgbClr val="1F5FD6"/>
                </a:solidFill>
                <a:latin typeface="Consolas"/>
              </a:rPr>
              <a:t>05   THE UNCERTAINTY DECISION</a:t>
            </a:r>
          </a:p>
        </p:txBody>
      </p:sp>
      <p:sp>
        <p:nvSpPr>
          <p:cNvPr id="3" name="TextBox 2"/>
          <p:cNvSpPr txBox="1"/>
          <p:nvPr/>
        </p:nvSpPr>
        <p:spPr>
          <a:xfrm>
            <a:off x="658368" y="621792"/>
            <a:ext cx="10874959" cy="640080"/>
          </a:xfrm>
          <a:prstGeom prst="rect">
            <a:avLst/>
          </a:prstGeom>
          <a:noFill/>
        </p:spPr>
        <p:txBody>
          <a:bodyPr wrap="square" lIns="0" rIns="0" tIns="0" bIns="0">
            <a:spAutoFit/>
          </a:bodyPr>
          <a:lstStyle/>
          <a:p>
            <a:pPr algn="l">
              <a:lnSpc>
                <a:spcPct val="105000"/>
              </a:lnSpc>
            </a:pPr>
            <a:r>
              <a:rPr sz="2800" b="0" i="0">
                <a:solidFill>
                  <a:srgbClr val="16202E"/>
                </a:solidFill>
                <a:latin typeface="Georgia"/>
              </a:rPr>
              <a:t>Confidence is not the model's to declare</a:t>
            </a:r>
          </a:p>
        </p:txBody>
      </p:sp>
      <p:sp>
        <p:nvSpPr>
          <p:cNvPr id="4" name="TextBox 3"/>
          <p:cNvSpPr txBox="1"/>
          <p:nvPr/>
        </p:nvSpPr>
        <p:spPr>
          <a:xfrm>
            <a:off x="658368" y="1325880"/>
            <a:ext cx="9509760" cy="457200"/>
          </a:xfrm>
          <a:prstGeom prst="rect">
            <a:avLst/>
          </a:prstGeom>
          <a:noFill/>
        </p:spPr>
        <p:txBody>
          <a:bodyPr wrap="square" lIns="0" rIns="0" tIns="0" bIns="0">
            <a:spAutoFit/>
          </a:bodyPr>
          <a:lstStyle/>
          <a:p>
            <a:pPr algn="l">
              <a:lnSpc>
                <a:spcPct val="130000"/>
              </a:lnSpc>
            </a:pPr>
            <a:r>
              <a:rPr sz="1250" b="0" i="0">
                <a:solidFill>
                  <a:srgbClr val="4A5668"/>
                </a:solidFill>
                <a:latin typeface="Segoe UI"/>
              </a:rPr>
              <a:t>The deliberate call: a finding's tier is decided in Python from what kind of evidence exists, never from the model's own estimate. That is what makes the top tier mean something.</a:t>
            </a:r>
          </a:p>
        </p:txBody>
      </p:sp>
      <p:sp>
        <p:nvSpPr>
          <p:cNvPr id="5" name="Rectangle 4"/>
          <p:cNvSpPr/>
          <p:nvPr/>
        </p:nvSpPr>
        <p:spPr>
          <a:xfrm>
            <a:off x="658368" y="2103120"/>
            <a:ext cx="3472586" cy="1481328"/>
          </a:xfrm>
          <a:prstGeom prst="rect">
            <a:avLst/>
          </a:prstGeom>
          <a:solidFill>
            <a:srgbClr val="FFFFFF"/>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58368" y="2103120"/>
            <a:ext cx="3472586" cy="41148"/>
          </a:xfrm>
          <a:prstGeom prst="rect">
            <a:avLst/>
          </a:prstGeom>
          <a:solidFill>
            <a:srgbClr val="126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2267712"/>
            <a:ext cx="3106826" cy="201168"/>
          </a:xfrm>
          <a:prstGeom prst="rect">
            <a:avLst/>
          </a:prstGeom>
          <a:noFill/>
        </p:spPr>
        <p:txBody>
          <a:bodyPr wrap="square" lIns="0" rIns="0" tIns="0" bIns="0">
            <a:spAutoFit/>
          </a:bodyPr>
          <a:lstStyle/>
          <a:p>
            <a:pPr algn="l">
              <a:lnSpc>
                <a:spcPct val="120000"/>
              </a:lnSpc>
            </a:pPr>
            <a:r>
              <a:rPr sz="1000" b="1" i="0" spc="120">
                <a:solidFill>
                  <a:srgbClr val="12664A"/>
                </a:solidFill>
                <a:latin typeface="Consolas"/>
              </a:rPr>
              <a:t>HIGH</a:t>
            </a:r>
          </a:p>
        </p:txBody>
      </p:sp>
      <p:sp>
        <p:nvSpPr>
          <p:cNvPr id="8" name="TextBox 7"/>
          <p:cNvSpPr txBox="1"/>
          <p:nvPr/>
        </p:nvSpPr>
        <p:spPr>
          <a:xfrm>
            <a:off x="841247" y="2523744"/>
            <a:ext cx="3106826" cy="640080"/>
          </a:xfrm>
          <a:prstGeom prst="rect">
            <a:avLst/>
          </a:prstGeom>
          <a:noFill/>
        </p:spPr>
        <p:txBody>
          <a:bodyPr wrap="square" lIns="0" rIns="0" tIns="0" bIns="0">
            <a:spAutoFit/>
          </a:bodyPr>
          <a:lstStyle/>
          <a:p>
            <a:pPr algn="l">
              <a:lnSpc>
                <a:spcPct val="130000"/>
              </a:lnSpc>
            </a:pPr>
            <a:r>
              <a:rPr sz="1100" b="0" i="0">
                <a:solidFill>
                  <a:srgbClr val="16202E"/>
                </a:solidFill>
                <a:latin typeface="Segoe UI"/>
              </a:rPr>
              <a:t>A number was extracted and compared to the threshold. 7 days &lt; 30 days is arithmetic.</a:t>
            </a:r>
          </a:p>
        </p:txBody>
      </p:sp>
      <p:sp>
        <p:nvSpPr>
          <p:cNvPr id="9" name="Rectangle 8"/>
          <p:cNvSpPr/>
          <p:nvPr/>
        </p:nvSpPr>
        <p:spPr>
          <a:xfrm>
            <a:off x="841247" y="3218688"/>
            <a:ext cx="3106826"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3310128"/>
            <a:ext cx="3106826" cy="219456"/>
          </a:xfrm>
          <a:prstGeom prst="rect">
            <a:avLst/>
          </a:prstGeom>
          <a:noFill/>
        </p:spPr>
        <p:txBody>
          <a:bodyPr wrap="square" lIns="0" rIns="0" tIns="0" bIns="0">
            <a:spAutoFit/>
          </a:bodyPr>
          <a:lstStyle/>
          <a:p>
            <a:pPr algn="l">
              <a:lnSpc>
                <a:spcPct val="120000"/>
              </a:lnSpc>
            </a:pPr>
            <a:r>
              <a:rPr sz="1000" b="0" i="0">
                <a:solidFill>
                  <a:srgbClr val="6D7888"/>
                </a:solidFill>
                <a:latin typeface="Segoe UI"/>
              </a:rPr>
              <a:t>Auto-suggest the redline.</a:t>
            </a:r>
          </a:p>
        </p:txBody>
      </p:sp>
      <p:sp>
        <p:nvSpPr>
          <p:cNvPr id="11" name="Rectangle 10"/>
          <p:cNvSpPr/>
          <p:nvPr/>
        </p:nvSpPr>
        <p:spPr>
          <a:xfrm>
            <a:off x="4359554" y="2103120"/>
            <a:ext cx="3472586" cy="1481328"/>
          </a:xfrm>
          <a:prstGeom prst="rect">
            <a:avLst/>
          </a:prstGeom>
          <a:solidFill>
            <a:srgbClr val="FFFFFF"/>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59554" y="2103120"/>
            <a:ext cx="3472586" cy="4114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42434" y="2267712"/>
            <a:ext cx="3106826" cy="201168"/>
          </a:xfrm>
          <a:prstGeom prst="rect">
            <a:avLst/>
          </a:prstGeom>
          <a:noFill/>
        </p:spPr>
        <p:txBody>
          <a:bodyPr wrap="square" lIns="0" rIns="0" tIns="0" bIns="0">
            <a:spAutoFit/>
          </a:bodyPr>
          <a:lstStyle/>
          <a:p>
            <a:pPr algn="l">
              <a:lnSpc>
                <a:spcPct val="120000"/>
              </a:lnSpc>
            </a:pPr>
            <a:r>
              <a:rPr sz="1000" b="1" i="0" spc="120">
                <a:solidFill>
                  <a:srgbClr val="1F5FD6"/>
                </a:solidFill>
                <a:latin typeface="Consolas"/>
              </a:rPr>
              <a:t>MEDIUM</a:t>
            </a:r>
          </a:p>
        </p:txBody>
      </p:sp>
      <p:sp>
        <p:nvSpPr>
          <p:cNvPr id="14" name="TextBox 13"/>
          <p:cNvSpPr txBox="1"/>
          <p:nvPr/>
        </p:nvSpPr>
        <p:spPr>
          <a:xfrm>
            <a:off x="4542434" y="2523744"/>
            <a:ext cx="3106826" cy="640080"/>
          </a:xfrm>
          <a:prstGeom prst="rect">
            <a:avLst/>
          </a:prstGeom>
          <a:noFill/>
        </p:spPr>
        <p:txBody>
          <a:bodyPr wrap="square" lIns="0" rIns="0" tIns="0" bIns="0">
            <a:spAutoFit/>
          </a:bodyPr>
          <a:lstStyle/>
          <a:p>
            <a:pPr algn="l">
              <a:lnSpc>
                <a:spcPct val="130000"/>
              </a:lnSpc>
            </a:pPr>
            <a:r>
              <a:rPr sz="1100" b="0" i="0">
                <a:solidFill>
                  <a:srgbClr val="16202E"/>
                </a:solidFill>
                <a:latin typeface="Segoe UI"/>
              </a:rPr>
              <a:t>No number, but the model quoted unambiguous wording and the clause states a real position.</a:t>
            </a:r>
          </a:p>
        </p:txBody>
      </p:sp>
      <p:sp>
        <p:nvSpPr>
          <p:cNvPr id="15" name="Rectangle 14"/>
          <p:cNvSpPr/>
          <p:nvPr/>
        </p:nvSpPr>
        <p:spPr>
          <a:xfrm>
            <a:off x="4542434" y="3218688"/>
            <a:ext cx="3106826"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42434" y="3310128"/>
            <a:ext cx="3106826" cy="219456"/>
          </a:xfrm>
          <a:prstGeom prst="rect">
            <a:avLst/>
          </a:prstGeom>
          <a:noFill/>
        </p:spPr>
        <p:txBody>
          <a:bodyPr wrap="square" lIns="0" rIns="0" tIns="0" bIns="0">
            <a:spAutoFit/>
          </a:bodyPr>
          <a:lstStyle/>
          <a:p>
            <a:pPr algn="l">
              <a:lnSpc>
                <a:spcPct val="120000"/>
              </a:lnSpc>
            </a:pPr>
            <a:r>
              <a:rPr sz="1000" b="0" i="0">
                <a:solidFill>
                  <a:srgbClr val="6D7888"/>
                </a:solidFill>
                <a:latin typeface="Segoe UI"/>
              </a:rPr>
              <a:t>Auto-suggest, marked for a look.</a:t>
            </a:r>
          </a:p>
        </p:txBody>
      </p:sp>
      <p:sp>
        <p:nvSpPr>
          <p:cNvPr id="17" name="Rectangle 16"/>
          <p:cNvSpPr/>
          <p:nvPr/>
        </p:nvSpPr>
        <p:spPr>
          <a:xfrm>
            <a:off x="8060740" y="2103120"/>
            <a:ext cx="3472586" cy="1481328"/>
          </a:xfrm>
          <a:prstGeom prst="rect">
            <a:avLst/>
          </a:prstGeom>
          <a:solidFill>
            <a:srgbClr val="FFFFFF"/>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60740" y="2103120"/>
            <a:ext cx="3472586" cy="41148"/>
          </a:xfrm>
          <a:prstGeom prst="rect">
            <a:avLst/>
          </a:prstGeom>
          <a:solidFill>
            <a:srgbClr val="9A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43620" y="2267712"/>
            <a:ext cx="3106826" cy="201168"/>
          </a:xfrm>
          <a:prstGeom prst="rect">
            <a:avLst/>
          </a:prstGeom>
          <a:noFill/>
        </p:spPr>
        <p:txBody>
          <a:bodyPr wrap="square" lIns="0" rIns="0" tIns="0" bIns="0">
            <a:spAutoFit/>
          </a:bodyPr>
          <a:lstStyle/>
          <a:p>
            <a:pPr algn="l">
              <a:lnSpc>
                <a:spcPct val="120000"/>
              </a:lnSpc>
            </a:pPr>
            <a:r>
              <a:rPr sz="1000" b="1" i="0" spc="120">
                <a:solidFill>
                  <a:srgbClr val="9A4A00"/>
                </a:solidFill>
                <a:latin typeface="Consolas"/>
              </a:rPr>
              <a:t>LOW</a:t>
            </a:r>
          </a:p>
        </p:txBody>
      </p:sp>
      <p:sp>
        <p:nvSpPr>
          <p:cNvPr id="20" name="TextBox 19"/>
          <p:cNvSpPr txBox="1"/>
          <p:nvPr/>
        </p:nvSpPr>
        <p:spPr>
          <a:xfrm>
            <a:off x="8243620" y="2523744"/>
            <a:ext cx="3106826" cy="640080"/>
          </a:xfrm>
          <a:prstGeom prst="rect">
            <a:avLst/>
          </a:prstGeom>
          <a:noFill/>
        </p:spPr>
        <p:txBody>
          <a:bodyPr wrap="square" lIns="0" rIns="0" tIns="0" bIns="0">
            <a:spAutoFit/>
          </a:bodyPr>
          <a:lstStyle/>
          <a:p>
            <a:pPr algn="l">
              <a:lnSpc>
                <a:spcPct val="130000"/>
              </a:lnSpc>
            </a:pPr>
            <a:r>
              <a:rPr sz="1100" b="0" i="0">
                <a:solidFill>
                  <a:srgbClr val="16202E"/>
                </a:solidFill>
                <a:latin typeface="Segoe UI"/>
              </a:rPr>
              <a:t>The clause defers to an outside standard, or a deviation was asserted with nothing quoted to support it.</a:t>
            </a:r>
          </a:p>
        </p:txBody>
      </p:sp>
      <p:sp>
        <p:nvSpPr>
          <p:cNvPr id="21" name="Rectangle 20"/>
          <p:cNvSpPr/>
          <p:nvPr/>
        </p:nvSpPr>
        <p:spPr>
          <a:xfrm>
            <a:off x="8243620" y="3218688"/>
            <a:ext cx="3106826" cy="7315"/>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43620" y="3310128"/>
            <a:ext cx="3106826" cy="219456"/>
          </a:xfrm>
          <a:prstGeom prst="rect">
            <a:avLst/>
          </a:prstGeom>
          <a:noFill/>
        </p:spPr>
        <p:txBody>
          <a:bodyPr wrap="square" lIns="0" rIns="0" tIns="0" bIns="0">
            <a:spAutoFit/>
          </a:bodyPr>
          <a:lstStyle/>
          <a:p>
            <a:pPr algn="l">
              <a:lnSpc>
                <a:spcPct val="120000"/>
              </a:lnSpc>
            </a:pPr>
            <a:r>
              <a:rPr sz="1000" b="0" i="0">
                <a:solidFill>
                  <a:srgbClr val="6D7888"/>
                </a:solidFill>
                <a:latin typeface="Segoe UI"/>
              </a:rPr>
              <a:t>Flag for a human. No auto-suggestion.</a:t>
            </a:r>
          </a:p>
        </p:txBody>
      </p:sp>
      <p:pic>
        <p:nvPicPr>
          <p:cNvPr id="23" name="Picture 22" descr="new-flagged.png"/>
          <p:cNvPicPr>
            <a:picLocks noChangeAspect="1"/>
          </p:cNvPicPr>
          <p:nvPr/>
        </p:nvPicPr>
        <p:blipFill>
          <a:blip r:embed="rId2"/>
          <a:stretch>
            <a:fillRect/>
          </a:stretch>
        </p:blipFill>
        <p:spPr>
          <a:xfrm>
            <a:off x="658368" y="3858768"/>
            <a:ext cx="5989320" cy="1682999"/>
          </a:xfrm>
          <a:prstGeom prst="rect">
            <a:avLst/>
          </a:prstGeom>
        </p:spPr>
      </p:pic>
      <p:sp>
        <p:nvSpPr>
          <p:cNvPr id="24" name="TextBox 23"/>
          <p:cNvSpPr txBox="1"/>
          <p:nvPr/>
        </p:nvSpPr>
        <p:spPr>
          <a:xfrm>
            <a:off x="658368" y="5650992"/>
            <a:ext cx="5989320" cy="365760"/>
          </a:xfrm>
          <a:prstGeom prst="rect">
            <a:avLst/>
          </a:prstGeom>
          <a:noFill/>
        </p:spPr>
        <p:txBody>
          <a:bodyPr wrap="square" lIns="0" rIns="0" tIns="0" bIns="0">
            <a:spAutoFit/>
          </a:bodyPr>
          <a:lstStyle/>
          <a:p>
            <a:pPr algn="l">
              <a:lnSpc>
                <a:spcPct val="120000"/>
              </a:lnSpc>
            </a:pPr>
            <a:r>
              <a:rPr sz="1000" b="0" i="1">
                <a:solidFill>
                  <a:srgbClr val="6D7888"/>
                </a:solidFill>
                <a:latin typeface="Segoe UI"/>
              </a:rPr>
              <a:t>The model called this clause compliant at 0.90. It names no jurisdiction, so it is surfaced rather than cleared.</a:t>
            </a:r>
          </a:p>
        </p:txBody>
      </p:sp>
      <p:sp>
        <p:nvSpPr>
          <p:cNvPr id="25" name="Rectangle 24"/>
          <p:cNvSpPr/>
          <p:nvPr/>
        </p:nvSpPr>
        <p:spPr>
          <a:xfrm>
            <a:off x="6967727" y="3858768"/>
            <a:ext cx="456559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32319" y="3950207"/>
            <a:ext cx="4199839" cy="201168"/>
          </a:xfrm>
          <a:prstGeom prst="rect">
            <a:avLst/>
          </a:prstGeom>
          <a:noFill/>
        </p:spPr>
        <p:txBody>
          <a:bodyPr wrap="square" lIns="0" rIns="0" tIns="0" bIns="0">
            <a:spAutoFit/>
          </a:bodyPr>
          <a:lstStyle/>
          <a:p>
            <a:pPr algn="l">
              <a:lnSpc>
                <a:spcPct val="120000"/>
              </a:lnSpc>
            </a:pPr>
            <a:r>
              <a:rPr sz="1100" b="1" i="0">
                <a:solidFill>
                  <a:srgbClr val="16202E"/>
                </a:solidFill>
                <a:latin typeface="Segoe UI"/>
              </a:rPr>
              <a:t>Confidence and severity stay separate</a:t>
            </a:r>
          </a:p>
        </p:txBody>
      </p:sp>
      <p:sp>
        <p:nvSpPr>
          <p:cNvPr id="27" name="TextBox 26"/>
          <p:cNvSpPr txBox="1"/>
          <p:nvPr/>
        </p:nvSpPr>
        <p:spPr>
          <a:xfrm>
            <a:off x="7132319" y="4160520"/>
            <a:ext cx="4199839" cy="438912"/>
          </a:xfrm>
          <a:prstGeom prst="rect">
            <a:avLst/>
          </a:prstGeom>
          <a:noFill/>
        </p:spPr>
        <p:txBody>
          <a:bodyPr wrap="square" lIns="0" rIns="0" tIns="0" bIns="0">
            <a:spAutoFit/>
          </a:bodyPr>
          <a:lstStyle/>
          <a:p>
            <a:pPr algn="l">
              <a:lnSpc>
                <a:spcPct val="120000"/>
              </a:lnSpc>
            </a:pPr>
            <a:r>
              <a:rPr sz="1000" b="0" i="0">
                <a:solidFill>
                  <a:srgbClr val="4A5668"/>
                </a:solidFill>
                <a:latin typeface="Segoe UI"/>
              </a:rPr>
              <a:t>Collapsing them hides the two cases that matter most: certain but minor, and uncertain but serious.</a:t>
            </a:r>
          </a:p>
        </p:txBody>
      </p:sp>
      <p:sp>
        <p:nvSpPr>
          <p:cNvPr id="28" name="Rectangle 27"/>
          <p:cNvSpPr/>
          <p:nvPr/>
        </p:nvSpPr>
        <p:spPr>
          <a:xfrm>
            <a:off x="6967727" y="4681728"/>
            <a:ext cx="456559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32319" y="4773168"/>
            <a:ext cx="4199839" cy="201168"/>
          </a:xfrm>
          <a:prstGeom prst="rect">
            <a:avLst/>
          </a:prstGeom>
          <a:noFill/>
        </p:spPr>
        <p:txBody>
          <a:bodyPr wrap="square" lIns="0" rIns="0" tIns="0" bIns="0">
            <a:spAutoFit/>
          </a:bodyPr>
          <a:lstStyle/>
          <a:p>
            <a:pPr algn="l">
              <a:lnSpc>
                <a:spcPct val="120000"/>
              </a:lnSpc>
            </a:pPr>
            <a:r>
              <a:rPr sz="1100" b="1" i="0">
                <a:solidFill>
                  <a:srgbClr val="16202E"/>
                </a:solidFill>
                <a:latin typeface="Segoe UI"/>
              </a:rPr>
              <a:t>Over-flagging is the safe error</a:t>
            </a:r>
          </a:p>
        </p:txBody>
      </p:sp>
      <p:sp>
        <p:nvSpPr>
          <p:cNvPr id="30" name="TextBox 29"/>
          <p:cNvSpPr txBox="1"/>
          <p:nvPr/>
        </p:nvSpPr>
        <p:spPr>
          <a:xfrm>
            <a:off x="7132319" y="4983480"/>
            <a:ext cx="4199839" cy="438912"/>
          </a:xfrm>
          <a:prstGeom prst="rect">
            <a:avLst/>
          </a:prstGeom>
          <a:noFill/>
        </p:spPr>
        <p:txBody>
          <a:bodyPr wrap="square" lIns="0" rIns="0" tIns="0" bIns="0">
            <a:spAutoFit/>
          </a:bodyPr>
          <a:lstStyle/>
          <a:p>
            <a:pPr algn="l">
              <a:lnSpc>
                <a:spcPct val="120000"/>
              </a:lnSpc>
            </a:pPr>
            <a:r>
              <a:rPr sz="1000" b="0" i="0">
                <a:solidFill>
                  <a:srgbClr val="4A5668"/>
                </a:solidFill>
                <a:latin typeface="Segoe UI"/>
              </a:rPr>
              <a:t>A false flag costs a reviewer a glance. A false pass is a clause nobody read, signed.</a:t>
            </a:r>
          </a:p>
        </p:txBody>
      </p:sp>
      <p:sp>
        <p:nvSpPr>
          <p:cNvPr id="31" name="Rectangle 30"/>
          <p:cNvSpPr/>
          <p:nvPr/>
        </p:nvSpPr>
        <p:spPr>
          <a:xfrm>
            <a:off x="6967727" y="5504688"/>
            <a:ext cx="4565599" cy="76809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32319" y="5596127"/>
            <a:ext cx="4199839" cy="201168"/>
          </a:xfrm>
          <a:prstGeom prst="rect">
            <a:avLst/>
          </a:prstGeom>
          <a:noFill/>
        </p:spPr>
        <p:txBody>
          <a:bodyPr wrap="square" lIns="0" rIns="0" tIns="0" bIns="0">
            <a:spAutoFit/>
          </a:bodyPr>
          <a:lstStyle/>
          <a:p>
            <a:pPr algn="l">
              <a:lnSpc>
                <a:spcPct val="120000"/>
              </a:lnSpc>
            </a:pPr>
            <a:r>
              <a:rPr sz="1100" b="1" i="0">
                <a:solidFill>
                  <a:srgbClr val="16202E"/>
                </a:solidFill>
                <a:latin typeface="Segoe UI"/>
              </a:rPr>
              <a:t>Silence is never approval</a:t>
            </a:r>
          </a:p>
        </p:txBody>
      </p:sp>
      <p:sp>
        <p:nvSpPr>
          <p:cNvPr id="33" name="TextBox 32"/>
          <p:cNvSpPr txBox="1"/>
          <p:nvPr/>
        </p:nvSpPr>
        <p:spPr>
          <a:xfrm>
            <a:off x="7132319" y="5806440"/>
            <a:ext cx="4199839" cy="438912"/>
          </a:xfrm>
          <a:prstGeom prst="rect">
            <a:avLst/>
          </a:prstGeom>
          <a:noFill/>
        </p:spPr>
        <p:txBody>
          <a:bodyPr wrap="square" lIns="0" rIns="0" tIns="0" bIns="0">
            <a:spAutoFit/>
          </a:bodyPr>
          <a:lstStyle/>
          <a:p>
            <a:pPr algn="l">
              <a:lnSpc>
                <a:spcPct val="120000"/>
              </a:lnSpc>
            </a:pPr>
            <a:r>
              <a:rPr sz="1000" b="0" i="0">
                <a:solidFill>
                  <a:srgbClr val="4A5668"/>
                </a:solidFill>
                <a:latin typeface="Segoe UI"/>
              </a:rPr>
              <a:t>A clause no rule covers is reported as uncovered, which also surfaces gaps in the playbook.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874959" cy="228600"/>
          </a:xfrm>
          <a:prstGeom prst="rect">
            <a:avLst/>
          </a:prstGeom>
          <a:noFill/>
        </p:spPr>
        <p:txBody>
          <a:bodyPr wrap="square" lIns="0" rIns="0" tIns="0" bIns="0">
            <a:spAutoFit/>
          </a:bodyPr>
          <a:lstStyle/>
          <a:p>
            <a:pPr algn="l">
              <a:lnSpc>
                <a:spcPct val="120000"/>
              </a:lnSpc>
            </a:pPr>
            <a:r>
              <a:rPr sz="1000" b="0" i="0" spc="120">
                <a:solidFill>
                  <a:srgbClr val="1F5FD6"/>
                </a:solidFill>
                <a:latin typeface="Consolas"/>
              </a:rPr>
              <a:t>06   WHERE IT LANDED</a:t>
            </a:r>
          </a:p>
        </p:txBody>
      </p:sp>
      <p:sp>
        <p:nvSpPr>
          <p:cNvPr id="3" name="TextBox 2"/>
          <p:cNvSpPr txBox="1"/>
          <p:nvPr/>
        </p:nvSpPr>
        <p:spPr>
          <a:xfrm>
            <a:off x="658368" y="621792"/>
            <a:ext cx="10874959" cy="640080"/>
          </a:xfrm>
          <a:prstGeom prst="rect">
            <a:avLst/>
          </a:prstGeom>
          <a:noFill/>
        </p:spPr>
        <p:txBody>
          <a:bodyPr wrap="square" lIns="0" rIns="0" tIns="0" bIns="0">
            <a:spAutoFit/>
          </a:bodyPr>
          <a:lstStyle/>
          <a:p>
            <a:pPr algn="l">
              <a:lnSpc>
                <a:spcPct val="105000"/>
              </a:lnSpc>
            </a:pPr>
            <a:r>
              <a:rPr sz="2800" b="0" i="0">
                <a:solidFill>
                  <a:srgbClr val="16202E"/>
                </a:solidFill>
                <a:latin typeface="Georgia"/>
              </a:rPr>
              <a:t>What it catches, and what it refuses to guess at</a:t>
            </a:r>
          </a:p>
        </p:txBody>
      </p:sp>
      <p:sp>
        <p:nvSpPr>
          <p:cNvPr id="4" name="Rectangle 3"/>
          <p:cNvSpPr/>
          <p:nvPr/>
        </p:nvSpPr>
        <p:spPr>
          <a:xfrm>
            <a:off x="658368" y="1481328"/>
            <a:ext cx="2615869" cy="914400"/>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7" y="1591056"/>
            <a:ext cx="2250109" cy="384048"/>
          </a:xfrm>
          <a:prstGeom prst="rect">
            <a:avLst/>
          </a:prstGeom>
          <a:noFill/>
        </p:spPr>
        <p:txBody>
          <a:bodyPr wrap="square" lIns="0" rIns="0" tIns="0" bIns="0">
            <a:spAutoFit/>
          </a:bodyPr>
          <a:lstStyle/>
          <a:p>
            <a:pPr algn="l">
              <a:lnSpc>
                <a:spcPct val="120000"/>
              </a:lnSpc>
            </a:pPr>
            <a:r>
              <a:rPr sz="2400" b="0" i="0">
                <a:solidFill>
                  <a:srgbClr val="16202E"/>
                </a:solidFill>
                <a:latin typeface="Georgia"/>
              </a:rPr>
              <a:t>7/7</a:t>
            </a:r>
          </a:p>
        </p:txBody>
      </p:sp>
      <p:sp>
        <p:nvSpPr>
          <p:cNvPr id="6" name="TextBox 5"/>
          <p:cNvSpPr txBox="1"/>
          <p:nvPr/>
        </p:nvSpPr>
        <p:spPr>
          <a:xfrm>
            <a:off x="841247" y="2011680"/>
            <a:ext cx="2250109" cy="310896"/>
          </a:xfrm>
          <a:prstGeom prst="rect">
            <a:avLst/>
          </a:prstGeom>
          <a:noFill/>
        </p:spPr>
        <p:txBody>
          <a:bodyPr wrap="square" lIns="0" rIns="0" tIns="0" bIns="0">
            <a:spAutoFit/>
          </a:bodyPr>
          <a:lstStyle/>
          <a:p>
            <a:pPr algn="l">
              <a:lnSpc>
                <a:spcPct val="120000"/>
              </a:lnSpc>
            </a:pPr>
            <a:r>
              <a:rPr sz="950" b="0" i="0">
                <a:solidFill>
                  <a:srgbClr val="4A5668"/>
                </a:solidFill>
                <a:latin typeface="Segoe UI"/>
              </a:rPr>
              <a:t>planted breaches caught and attributed</a:t>
            </a:r>
          </a:p>
        </p:txBody>
      </p:sp>
      <p:sp>
        <p:nvSpPr>
          <p:cNvPr id="7" name="Rectangle 6"/>
          <p:cNvSpPr/>
          <p:nvPr/>
        </p:nvSpPr>
        <p:spPr>
          <a:xfrm>
            <a:off x="3411397" y="1481328"/>
            <a:ext cx="2615869" cy="914400"/>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94277" y="1591056"/>
            <a:ext cx="2250109" cy="384048"/>
          </a:xfrm>
          <a:prstGeom prst="rect">
            <a:avLst/>
          </a:prstGeom>
          <a:noFill/>
        </p:spPr>
        <p:txBody>
          <a:bodyPr wrap="square" lIns="0" rIns="0" tIns="0" bIns="0">
            <a:spAutoFit/>
          </a:bodyPr>
          <a:lstStyle/>
          <a:p>
            <a:pPr algn="l">
              <a:lnSpc>
                <a:spcPct val="120000"/>
              </a:lnSpc>
            </a:pPr>
            <a:r>
              <a:rPr sz="2400" b="0" i="0">
                <a:solidFill>
                  <a:srgbClr val="16202E"/>
                </a:solidFill>
                <a:latin typeface="Georgia"/>
              </a:rPr>
              <a:t>0</a:t>
            </a:r>
          </a:p>
        </p:txBody>
      </p:sp>
      <p:sp>
        <p:nvSpPr>
          <p:cNvPr id="9" name="TextBox 8"/>
          <p:cNvSpPr txBox="1"/>
          <p:nvPr/>
        </p:nvSpPr>
        <p:spPr>
          <a:xfrm>
            <a:off x="3594277" y="2011680"/>
            <a:ext cx="2250109" cy="310896"/>
          </a:xfrm>
          <a:prstGeom prst="rect">
            <a:avLst/>
          </a:prstGeom>
          <a:noFill/>
        </p:spPr>
        <p:txBody>
          <a:bodyPr wrap="square" lIns="0" rIns="0" tIns="0" bIns="0">
            <a:spAutoFit/>
          </a:bodyPr>
          <a:lstStyle/>
          <a:p>
            <a:pPr algn="l">
              <a:lnSpc>
                <a:spcPct val="120000"/>
              </a:lnSpc>
            </a:pPr>
            <a:r>
              <a:rPr sz="950" b="0" i="0">
                <a:solidFill>
                  <a:srgbClr val="4A5668"/>
                </a:solidFill>
                <a:latin typeface="Segoe UI"/>
              </a:rPr>
              <a:t>false flags on the two clean clauses</a:t>
            </a:r>
          </a:p>
        </p:txBody>
      </p:sp>
      <p:sp>
        <p:nvSpPr>
          <p:cNvPr id="10" name="Rectangle 9"/>
          <p:cNvSpPr/>
          <p:nvPr/>
        </p:nvSpPr>
        <p:spPr>
          <a:xfrm>
            <a:off x="6164427" y="1481328"/>
            <a:ext cx="2615869" cy="914400"/>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47307" y="1591056"/>
            <a:ext cx="2250109" cy="384048"/>
          </a:xfrm>
          <a:prstGeom prst="rect">
            <a:avLst/>
          </a:prstGeom>
          <a:noFill/>
        </p:spPr>
        <p:txBody>
          <a:bodyPr wrap="square" lIns="0" rIns="0" tIns="0" bIns="0">
            <a:spAutoFit/>
          </a:bodyPr>
          <a:lstStyle/>
          <a:p>
            <a:pPr algn="l">
              <a:lnSpc>
                <a:spcPct val="120000"/>
              </a:lnSpc>
            </a:pPr>
            <a:r>
              <a:rPr sz="2400" b="0" i="0">
                <a:solidFill>
                  <a:srgbClr val="16202E"/>
                </a:solidFill>
                <a:latin typeface="Georgia"/>
              </a:rPr>
              <a:t>132</a:t>
            </a:r>
          </a:p>
        </p:txBody>
      </p:sp>
      <p:sp>
        <p:nvSpPr>
          <p:cNvPr id="12" name="TextBox 11"/>
          <p:cNvSpPr txBox="1"/>
          <p:nvPr/>
        </p:nvSpPr>
        <p:spPr>
          <a:xfrm>
            <a:off x="6347307" y="2011680"/>
            <a:ext cx="2250109" cy="310896"/>
          </a:xfrm>
          <a:prstGeom prst="rect">
            <a:avLst/>
          </a:prstGeom>
          <a:noFill/>
        </p:spPr>
        <p:txBody>
          <a:bodyPr wrap="square" lIns="0" rIns="0" tIns="0" bIns="0">
            <a:spAutoFit/>
          </a:bodyPr>
          <a:lstStyle/>
          <a:p>
            <a:pPr algn="l">
              <a:lnSpc>
                <a:spcPct val="120000"/>
              </a:lnSpc>
            </a:pPr>
            <a:r>
              <a:rPr sz="950" b="0" i="0">
                <a:solidFill>
                  <a:srgbClr val="4A5668"/>
                </a:solidFill>
                <a:latin typeface="Segoe UI"/>
              </a:rPr>
              <a:t>tests, 96 needing no API key</a:t>
            </a:r>
          </a:p>
        </p:txBody>
      </p:sp>
      <p:sp>
        <p:nvSpPr>
          <p:cNvPr id="13" name="Rectangle 12"/>
          <p:cNvSpPr/>
          <p:nvPr/>
        </p:nvSpPr>
        <p:spPr>
          <a:xfrm>
            <a:off x="8917457" y="1481328"/>
            <a:ext cx="2615869" cy="914400"/>
          </a:xfrm>
          <a:prstGeom prst="rect">
            <a:avLst/>
          </a:prstGeom>
          <a:solidFill>
            <a:srgbClr val="F5F7FA"/>
          </a:solidFill>
          <a:ln w="9525">
            <a:solidFill>
              <a:srgbClr val="DA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00337" y="1591056"/>
            <a:ext cx="2250109" cy="384048"/>
          </a:xfrm>
          <a:prstGeom prst="rect">
            <a:avLst/>
          </a:prstGeom>
          <a:noFill/>
        </p:spPr>
        <p:txBody>
          <a:bodyPr wrap="square" lIns="0" rIns="0" tIns="0" bIns="0">
            <a:spAutoFit/>
          </a:bodyPr>
          <a:lstStyle/>
          <a:p>
            <a:pPr algn="l">
              <a:lnSpc>
                <a:spcPct val="120000"/>
              </a:lnSpc>
            </a:pPr>
            <a:r>
              <a:rPr sz="2400" b="0" i="0">
                <a:solidFill>
                  <a:srgbClr val="16202E"/>
                </a:solidFill>
                <a:latin typeface="Georgia"/>
              </a:rPr>
              <a:t>~6s</a:t>
            </a:r>
          </a:p>
        </p:txBody>
      </p:sp>
      <p:sp>
        <p:nvSpPr>
          <p:cNvPr id="15" name="TextBox 14"/>
          <p:cNvSpPr txBox="1"/>
          <p:nvPr/>
        </p:nvSpPr>
        <p:spPr>
          <a:xfrm>
            <a:off x="9100337" y="2011680"/>
            <a:ext cx="2250109" cy="310896"/>
          </a:xfrm>
          <a:prstGeom prst="rect">
            <a:avLst/>
          </a:prstGeom>
          <a:noFill/>
        </p:spPr>
        <p:txBody>
          <a:bodyPr wrap="square" lIns="0" rIns="0" tIns="0" bIns="0">
            <a:spAutoFit/>
          </a:bodyPr>
          <a:lstStyle/>
          <a:p>
            <a:pPr algn="l">
              <a:lnSpc>
                <a:spcPct val="120000"/>
              </a:lnSpc>
            </a:pPr>
            <a:r>
              <a:rPr sz="950" b="0" i="0">
                <a:solidFill>
                  <a:srgbClr val="4A5668"/>
                </a:solidFill>
                <a:latin typeface="Segoe UI"/>
              </a:rPr>
              <a:t>full review, steps run concurrently</a:t>
            </a:r>
          </a:p>
        </p:txBody>
      </p:sp>
      <p:sp>
        <p:nvSpPr>
          <p:cNvPr id="16" name="TextBox 15"/>
          <p:cNvSpPr txBox="1"/>
          <p:nvPr/>
        </p:nvSpPr>
        <p:spPr>
          <a:xfrm>
            <a:off x="658368" y="2615184"/>
            <a:ext cx="10874959" cy="228600"/>
          </a:xfrm>
          <a:prstGeom prst="rect">
            <a:avLst/>
          </a:prstGeom>
          <a:noFill/>
        </p:spPr>
        <p:txBody>
          <a:bodyPr wrap="square" lIns="0" rIns="0" tIns="0" bIns="0">
            <a:spAutoFit/>
          </a:bodyPr>
          <a:lstStyle/>
          <a:p>
            <a:pPr algn="l">
              <a:lnSpc>
                <a:spcPct val="120000"/>
              </a:lnSpc>
            </a:pPr>
            <a:r>
              <a:rPr sz="1300" b="1" i="0">
                <a:solidFill>
                  <a:srgbClr val="16202E"/>
                </a:solidFill>
                <a:latin typeface="Segoe UI"/>
              </a:rPr>
              <a:t>Judgment, not just detection</a:t>
            </a:r>
          </a:p>
        </p:txBody>
      </p:sp>
      <p:sp>
        <p:nvSpPr>
          <p:cNvPr id="17" name="TextBox 16"/>
          <p:cNvSpPr txBox="1"/>
          <p:nvPr/>
        </p:nvSpPr>
        <p:spPr>
          <a:xfrm>
            <a:off x="658368" y="2889504"/>
            <a:ext cx="10424160" cy="548640"/>
          </a:xfrm>
          <a:prstGeom prst="rect">
            <a:avLst/>
          </a:prstGeom>
          <a:noFill/>
        </p:spPr>
        <p:txBody>
          <a:bodyPr wrap="square" lIns="0" rIns="0" tIns="0" bIns="0">
            <a:spAutoFit/>
          </a:bodyPr>
          <a:lstStyle/>
          <a:p>
            <a:pPr algn="l">
              <a:lnSpc>
                <a:spcPct val="130000"/>
              </a:lnSpc>
            </a:pPr>
            <a:r>
              <a:rPr sz="1100" b="0" i="0">
                <a:solidFill>
                  <a:srgbClr val="4A5668"/>
                </a:solidFill>
                <a:latin typeface="Segoe UI"/>
              </a:rPr>
              <a:t>Severity comes from the playbook's own reasoning rather than the size of the gap. Payment terms are escalated because the rule itself says shorter terms need escalation, even though Net 15 is the smallest numeric miss. The notice-period gaps are the largest misses proportionally and stay negotiable, because they are procedural.</a:t>
            </a:r>
          </a:p>
        </p:txBody>
      </p:sp>
      <p:sp>
        <p:nvSpPr>
          <p:cNvPr id="18" name="TextBox 17"/>
          <p:cNvSpPr txBox="1"/>
          <p:nvPr/>
        </p:nvSpPr>
        <p:spPr>
          <a:xfrm>
            <a:off x="658368" y="3657600"/>
            <a:ext cx="73152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CLAUSE</a:t>
            </a:r>
          </a:p>
        </p:txBody>
      </p:sp>
      <p:sp>
        <p:nvSpPr>
          <p:cNvPr id="19" name="TextBox 18"/>
          <p:cNvSpPr txBox="1"/>
          <p:nvPr/>
        </p:nvSpPr>
        <p:spPr>
          <a:xfrm>
            <a:off x="1481328" y="3657600"/>
            <a:ext cx="493776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FINDING</a:t>
            </a:r>
          </a:p>
        </p:txBody>
      </p:sp>
      <p:sp>
        <p:nvSpPr>
          <p:cNvPr id="20" name="TextBox 19"/>
          <p:cNvSpPr txBox="1"/>
          <p:nvPr/>
        </p:nvSpPr>
        <p:spPr>
          <a:xfrm>
            <a:off x="6510528" y="3657600"/>
            <a:ext cx="182880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EVIDENCE</a:t>
            </a:r>
          </a:p>
        </p:txBody>
      </p:sp>
      <p:sp>
        <p:nvSpPr>
          <p:cNvPr id="21" name="TextBox 20"/>
          <p:cNvSpPr txBox="1"/>
          <p:nvPr/>
        </p:nvSpPr>
        <p:spPr>
          <a:xfrm>
            <a:off x="8522208" y="3657600"/>
            <a:ext cx="1828800" cy="182880"/>
          </a:xfrm>
          <a:prstGeom prst="rect">
            <a:avLst/>
          </a:prstGeom>
          <a:noFill/>
        </p:spPr>
        <p:txBody>
          <a:bodyPr wrap="square" lIns="0" rIns="0" tIns="0" bIns="0">
            <a:spAutoFit/>
          </a:bodyPr>
          <a:lstStyle/>
          <a:p>
            <a:pPr algn="l">
              <a:lnSpc>
                <a:spcPct val="120000"/>
              </a:lnSpc>
            </a:pPr>
            <a:r>
              <a:rPr sz="850" b="0" i="0">
                <a:solidFill>
                  <a:srgbClr val="6D7888"/>
                </a:solidFill>
                <a:latin typeface="Consolas"/>
              </a:rPr>
              <a:t>CALL</a:t>
            </a:r>
          </a:p>
        </p:txBody>
      </p:sp>
      <p:sp>
        <p:nvSpPr>
          <p:cNvPr id="22" name="Rectangle 21"/>
          <p:cNvSpPr/>
          <p:nvPr/>
        </p:nvSpPr>
        <p:spPr>
          <a:xfrm>
            <a:off x="658368" y="3858768"/>
            <a:ext cx="10874959" cy="10972"/>
          </a:xfrm>
          <a:prstGeom prst="rect">
            <a:avLst/>
          </a:prstGeom>
          <a:solidFill>
            <a:srgbClr val="6D7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8368" y="3950208"/>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3</a:t>
            </a:r>
          </a:p>
        </p:txBody>
      </p:sp>
      <p:sp>
        <p:nvSpPr>
          <p:cNvPr id="24" name="TextBox 23"/>
          <p:cNvSpPr txBox="1"/>
          <p:nvPr/>
        </p:nvSpPr>
        <p:spPr>
          <a:xfrm>
            <a:off x="1481328" y="3950208"/>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Liability capped at 3 months, not 12</a:t>
            </a:r>
          </a:p>
        </p:txBody>
      </p:sp>
      <p:sp>
        <p:nvSpPr>
          <p:cNvPr id="25" name="TextBox 24"/>
          <p:cNvSpPr txBox="1"/>
          <p:nvPr/>
        </p:nvSpPr>
        <p:spPr>
          <a:xfrm>
            <a:off x="6510528" y="3950208"/>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arithmetic</a:t>
            </a:r>
          </a:p>
        </p:txBody>
      </p:sp>
      <p:sp>
        <p:nvSpPr>
          <p:cNvPr id="26" name="TextBox 25"/>
          <p:cNvSpPr txBox="1"/>
          <p:nvPr/>
        </p:nvSpPr>
        <p:spPr>
          <a:xfrm>
            <a:off x="8522208" y="3950208"/>
            <a:ext cx="2011680" cy="219456"/>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Escalate</a:t>
            </a:r>
          </a:p>
        </p:txBody>
      </p:sp>
      <p:sp>
        <p:nvSpPr>
          <p:cNvPr id="27" name="Rectangle 26"/>
          <p:cNvSpPr/>
          <p:nvPr/>
        </p:nvSpPr>
        <p:spPr>
          <a:xfrm>
            <a:off x="658368" y="4206240"/>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8368" y="4261104"/>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2</a:t>
            </a:r>
          </a:p>
        </p:txBody>
      </p:sp>
      <p:sp>
        <p:nvSpPr>
          <p:cNvPr id="29" name="TextBox 28"/>
          <p:cNvSpPr txBox="1"/>
          <p:nvPr/>
        </p:nvSpPr>
        <p:spPr>
          <a:xfrm>
            <a:off x="1481328" y="4261104"/>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Net 15 against a Net 30 floor</a:t>
            </a:r>
          </a:p>
        </p:txBody>
      </p:sp>
      <p:sp>
        <p:nvSpPr>
          <p:cNvPr id="30" name="TextBox 29"/>
          <p:cNvSpPr txBox="1"/>
          <p:nvPr/>
        </p:nvSpPr>
        <p:spPr>
          <a:xfrm>
            <a:off x="6510528" y="4261104"/>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arithmetic</a:t>
            </a:r>
          </a:p>
        </p:txBody>
      </p:sp>
      <p:sp>
        <p:nvSpPr>
          <p:cNvPr id="31" name="TextBox 30"/>
          <p:cNvSpPr txBox="1"/>
          <p:nvPr/>
        </p:nvSpPr>
        <p:spPr>
          <a:xfrm>
            <a:off x="8522208" y="4261104"/>
            <a:ext cx="2011680" cy="219456"/>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Escalate</a:t>
            </a:r>
          </a:p>
        </p:txBody>
      </p:sp>
      <p:sp>
        <p:nvSpPr>
          <p:cNvPr id="32" name="Rectangle 31"/>
          <p:cNvSpPr/>
          <p:nvPr/>
        </p:nvSpPr>
        <p:spPr>
          <a:xfrm>
            <a:off x="658368" y="4517136"/>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8368" y="4572000"/>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4</a:t>
            </a:r>
          </a:p>
        </p:txBody>
      </p:sp>
      <p:sp>
        <p:nvSpPr>
          <p:cNvPr id="34" name="TextBox 33"/>
          <p:cNvSpPr txBox="1"/>
          <p:nvPr/>
        </p:nvSpPr>
        <p:spPr>
          <a:xfrm>
            <a:off x="1481328" y="4572000"/>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Indemnity runs one way only</a:t>
            </a:r>
          </a:p>
        </p:txBody>
      </p:sp>
      <p:sp>
        <p:nvSpPr>
          <p:cNvPr id="35" name="TextBox 34"/>
          <p:cNvSpPr txBox="1"/>
          <p:nvPr/>
        </p:nvSpPr>
        <p:spPr>
          <a:xfrm>
            <a:off x="6510528" y="4572000"/>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quoted wording</a:t>
            </a:r>
          </a:p>
        </p:txBody>
      </p:sp>
      <p:sp>
        <p:nvSpPr>
          <p:cNvPr id="36" name="TextBox 35"/>
          <p:cNvSpPr txBox="1"/>
          <p:nvPr/>
        </p:nvSpPr>
        <p:spPr>
          <a:xfrm>
            <a:off x="8522208" y="4572000"/>
            <a:ext cx="2011680" cy="219456"/>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Escalate</a:t>
            </a:r>
          </a:p>
        </p:txBody>
      </p:sp>
      <p:sp>
        <p:nvSpPr>
          <p:cNvPr id="37" name="Rectangle 36"/>
          <p:cNvSpPr/>
          <p:nvPr/>
        </p:nvSpPr>
        <p:spPr>
          <a:xfrm>
            <a:off x="658368" y="4828032"/>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8368" y="4882896"/>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5</a:t>
            </a:r>
          </a:p>
        </p:txBody>
      </p:sp>
      <p:sp>
        <p:nvSpPr>
          <p:cNvPr id="39" name="TextBox 38"/>
          <p:cNvSpPr txBox="1"/>
          <p:nvPr/>
        </p:nvSpPr>
        <p:spPr>
          <a:xfrm>
            <a:off x="1481328" y="4882896"/>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Vendor owns all data and derivatives</a:t>
            </a:r>
          </a:p>
        </p:txBody>
      </p:sp>
      <p:sp>
        <p:nvSpPr>
          <p:cNvPr id="40" name="TextBox 39"/>
          <p:cNvSpPr txBox="1"/>
          <p:nvPr/>
        </p:nvSpPr>
        <p:spPr>
          <a:xfrm>
            <a:off x="6510528" y="4882896"/>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quoted wording</a:t>
            </a:r>
          </a:p>
        </p:txBody>
      </p:sp>
      <p:sp>
        <p:nvSpPr>
          <p:cNvPr id="41" name="TextBox 40"/>
          <p:cNvSpPr txBox="1"/>
          <p:nvPr/>
        </p:nvSpPr>
        <p:spPr>
          <a:xfrm>
            <a:off x="8522208" y="4882896"/>
            <a:ext cx="2011680" cy="219456"/>
          </a:xfrm>
          <a:prstGeom prst="rect">
            <a:avLst/>
          </a:prstGeom>
          <a:noFill/>
        </p:spPr>
        <p:txBody>
          <a:bodyPr wrap="square" lIns="0" rIns="0" tIns="0" bIns="0">
            <a:spAutoFit/>
          </a:bodyPr>
          <a:lstStyle/>
          <a:p>
            <a:pPr algn="l">
              <a:lnSpc>
                <a:spcPct val="120000"/>
              </a:lnSpc>
            </a:pPr>
            <a:r>
              <a:rPr sz="1050" b="1" i="0">
                <a:solidFill>
                  <a:srgbClr val="B4232B"/>
                </a:solidFill>
                <a:latin typeface="Segoe UI"/>
              </a:rPr>
              <a:t>Escalate</a:t>
            </a:r>
          </a:p>
        </p:txBody>
      </p:sp>
      <p:sp>
        <p:nvSpPr>
          <p:cNvPr id="42" name="Rectangle 41"/>
          <p:cNvSpPr/>
          <p:nvPr/>
        </p:nvSpPr>
        <p:spPr>
          <a:xfrm>
            <a:off x="658368" y="5138928"/>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8368" y="5193792"/>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1</a:t>
            </a:r>
          </a:p>
        </p:txBody>
      </p:sp>
      <p:sp>
        <p:nvSpPr>
          <p:cNvPr id="44" name="TextBox 43"/>
          <p:cNvSpPr txBox="1"/>
          <p:nvPr/>
        </p:nvSpPr>
        <p:spPr>
          <a:xfrm>
            <a:off x="1481328" y="5193792"/>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7-day termination and 10-day renewal notice</a:t>
            </a:r>
          </a:p>
        </p:txBody>
      </p:sp>
      <p:sp>
        <p:nvSpPr>
          <p:cNvPr id="45" name="TextBox 44"/>
          <p:cNvSpPr txBox="1"/>
          <p:nvPr/>
        </p:nvSpPr>
        <p:spPr>
          <a:xfrm>
            <a:off x="6510528" y="5193792"/>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arithmetic</a:t>
            </a:r>
          </a:p>
        </p:txBody>
      </p:sp>
      <p:sp>
        <p:nvSpPr>
          <p:cNvPr id="46" name="TextBox 45"/>
          <p:cNvSpPr txBox="1"/>
          <p:nvPr/>
        </p:nvSpPr>
        <p:spPr>
          <a:xfrm>
            <a:off x="8522208" y="5193792"/>
            <a:ext cx="201168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Negotiable</a:t>
            </a:r>
          </a:p>
        </p:txBody>
      </p:sp>
      <p:sp>
        <p:nvSpPr>
          <p:cNvPr id="47" name="Rectangle 46"/>
          <p:cNvSpPr/>
          <p:nvPr/>
        </p:nvSpPr>
        <p:spPr>
          <a:xfrm>
            <a:off x="658368" y="5449824"/>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58368" y="5504688"/>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6</a:t>
            </a:r>
          </a:p>
        </p:txBody>
      </p:sp>
      <p:sp>
        <p:nvSpPr>
          <p:cNvPr id="49" name="TextBox 48"/>
          <p:cNvSpPr txBox="1"/>
          <p:nvPr/>
        </p:nvSpPr>
        <p:spPr>
          <a:xfrm>
            <a:off x="1481328" y="5504688"/>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Vendor's home jurisdiction governs</a:t>
            </a:r>
          </a:p>
        </p:txBody>
      </p:sp>
      <p:sp>
        <p:nvSpPr>
          <p:cNvPr id="50" name="TextBox 49"/>
          <p:cNvSpPr txBox="1"/>
          <p:nvPr/>
        </p:nvSpPr>
        <p:spPr>
          <a:xfrm>
            <a:off x="6510528" y="5504688"/>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quoted wording</a:t>
            </a:r>
          </a:p>
        </p:txBody>
      </p:sp>
      <p:sp>
        <p:nvSpPr>
          <p:cNvPr id="51" name="TextBox 50"/>
          <p:cNvSpPr txBox="1"/>
          <p:nvPr/>
        </p:nvSpPr>
        <p:spPr>
          <a:xfrm>
            <a:off x="8522208" y="5504688"/>
            <a:ext cx="201168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Negotiable</a:t>
            </a:r>
          </a:p>
        </p:txBody>
      </p:sp>
      <p:sp>
        <p:nvSpPr>
          <p:cNvPr id="52" name="Rectangle 51"/>
          <p:cNvSpPr/>
          <p:nvPr/>
        </p:nvSpPr>
        <p:spPr>
          <a:xfrm>
            <a:off x="658368" y="5760720"/>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58368" y="5815584"/>
            <a:ext cx="731520" cy="219456"/>
          </a:xfrm>
          <a:prstGeom prst="rect">
            <a:avLst/>
          </a:prstGeom>
          <a:noFill/>
        </p:spPr>
        <p:txBody>
          <a:bodyPr wrap="square" lIns="0" rIns="0" tIns="0" bIns="0">
            <a:spAutoFit/>
          </a:bodyPr>
          <a:lstStyle/>
          <a:p>
            <a:pPr algn="l">
              <a:lnSpc>
                <a:spcPct val="120000"/>
              </a:lnSpc>
            </a:pPr>
            <a:r>
              <a:rPr sz="1050" b="0" i="0">
                <a:solidFill>
                  <a:srgbClr val="16202E"/>
                </a:solidFill>
                <a:latin typeface="Consolas"/>
              </a:rPr>
              <a:t>7, 8</a:t>
            </a:r>
          </a:p>
        </p:txBody>
      </p:sp>
      <p:sp>
        <p:nvSpPr>
          <p:cNvPr id="54" name="TextBox 53"/>
          <p:cNvSpPr txBox="1"/>
          <p:nvPr/>
        </p:nvSpPr>
        <p:spPr>
          <a:xfrm>
            <a:off x="1481328" y="5815584"/>
            <a:ext cx="4937760" cy="219456"/>
          </a:xfrm>
          <a:prstGeom prst="rect">
            <a:avLst/>
          </a:prstGeom>
          <a:noFill/>
        </p:spPr>
        <p:txBody>
          <a:bodyPr wrap="square" lIns="0" rIns="0" tIns="0" bIns="0">
            <a:spAutoFit/>
          </a:bodyPr>
          <a:lstStyle/>
          <a:p>
            <a:pPr algn="l">
              <a:lnSpc>
                <a:spcPct val="120000"/>
              </a:lnSpc>
            </a:pPr>
            <a:r>
              <a:rPr sz="1050" b="0" i="0">
                <a:solidFill>
                  <a:srgbClr val="16202E"/>
                </a:solidFill>
                <a:latin typeface="Segoe UI"/>
              </a:rPr>
              <a:t>Confidentiality and boilerplate</a:t>
            </a:r>
          </a:p>
        </p:txBody>
      </p:sp>
      <p:sp>
        <p:nvSpPr>
          <p:cNvPr id="55" name="TextBox 54"/>
          <p:cNvSpPr txBox="1"/>
          <p:nvPr/>
        </p:nvSpPr>
        <p:spPr>
          <a:xfrm>
            <a:off x="6510528" y="5815584"/>
            <a:ext cx="1828800" cy="219456"/>
          </a:xfrm>
          <a:prstGeom prst="rect">
            <a:avLst/>
          </a:prstGeom>
          <a:noFill/>
        </p:spPr>
        <p:txBody>
          <a:bodyPr wrap="square" lIns="0" rIns="0" tIns="0" bIns="0">
            <a:spAutoFit/>
          </a:bodyPr>
          <a:lstStyle/>
          <a:p>
            <a:pPr algn="l">
              <a:lnSpc>
                <a:spcPct val="120000"/>
              </a:lnSpc>
            </a:pPr>
            <a:r>
              <a:rPr sz="1050" b="0" i="0">
                <a:solidFill>
                  <a:srgbClr val="4A5668"/>
                </a:solidFill>
                <a:latin typeface="Segoe UI"/>
              </a:rPr>
              <a:t>—</a:t>
            </a:r>
          </a:p>
        </p:txBody>
      </p:sp>
      <p:sp>
        <p:nvSpPr>
          <p:cNvPr id="56" name="TextBox 55"/>
          <p:cNvSpPr txBox="1"/>
          <p:nvPr/>
        </p:nvSpPr>
        <p:spPr>
          <a:xfrm>
            <a:off x="8522208" y="5815584"/>
            <a:ext cx="2011680" cy="219456"/>
          </a:xfrm>
          <a:prstGeom prst="rect">
            <a:avLst/>
          </a:prstGeom>
          <a:noFill/>
        </p:spPr>
        <p:txBody>
          <a:bodyPr wrap="square" lIns="0" rIns="0" tIns="0" bIns="0">
            <a:spAutoFit/>
          </a:bodyPr>
          <a:lstStyle/>
          <a:p>
            <a:pPr algn="l">
              <a:lnSpc>
                <a:spcPct val="120000"/>
              </a:lnSpc>
            </a:pPr>
            <a:r>
              <a:rPr sz="1050" b="0" i="0">
                <a:solidFill>
                  <a:srgbClr val="6D7888"/>
                </a:solidFill>
                <a:latin typeface="Segoe UI"/>
              </a:rPr>
              <a:t>No rule applies</a:t>
            </a:r>
          </a:p>
        </p:txBody>
      </p:sp>
      <p:sp>
        <p:nvSpPr>
          <p:cNvPr id="57" name="Rectangle 56"/>
          <p:cNvSpPr/>
          <p:nvPr/>
        </p:nvSpPr>
        <p:spPr>
          <a:xfrm>
            <a:off x="658368" y="6071616"/>
            <a:ext cx="10874959" cy="5486"/>
          </a:xfrm>
          <a:prstGeom prst="rect">
            <a:avLst/>
          </a:prstGeom>
          <a:solidFill>
            <a:srgbClr val="DA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58368" y="6236208"/>
            <a:ext cx="10874959" cy="566928"/>
          </a:xfrm>
          <a:prstGeom prst="rect">
            <a:avLst/>
          </a:prstGeom>
          <a:solidFill>
            <a:srgbClr val="E7E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58368" y="6236208"/>
            <a:ext cx="32004" cy="566928"/>
          </a:xfrm>
          <a:prstGeom prst="rect">
            <a:avLst/>
          </a:prstGeom>
          <a:solidFill>
            <a:srgbClr val="1F5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41247" y="6355080"/>
            <a:ext cx="10463479" cy="365760"/>
          </a:xfrm>
          <a:prstGeom prst="rect">
            <a:avLst/>
          </a:prstGeom>
          <a:noFill/>
        </p:spPr>
        <p:txBody>
          <a:bodyPr wrap="square" lIns="0" rIns="0" tIns="0" bIns="0">
            <a:spAutoFit/>
          </a:bodyPr>
          <a:lstStyle/>
          <a:p>
            <a:pPr algn="l">
              <a:lnSpc>
                <a:spcPct val="125000"/>
              </a:lnSpc>
            </a:pPr>
            <a:r>
              <a:rPr sz="1050" b="0" i="0">
                <a:solidFill>
                  <a:srgbClr val="16202E"/>
                </a:solidFill>
                <a:latin typeface="Segoe UI"/>
              </a:rPr>
              <a:t>The honest limitation: the vagueness check is a phrase list, so a clause that hedges in wording it does not contain still reaches the model unguarded. It is a floor under the failure mode, not a solution to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